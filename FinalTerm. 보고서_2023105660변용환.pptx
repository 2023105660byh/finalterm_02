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31" r:id="rId3"/>
    <p:sldId id="334" r:id="rId4"/>
    <p:sldId id="332" r:id="rId5"/>
    <p:sldId id="261" r:id="rId6"/>
    <p:sldId id="335" r:id="rId7"/>
    <p:sldId id="336" r:id="rId8"/>
    <p:sldId id="344" r:id="rId9"/>
    <p:sldId id="345" r:id="rId10"/>
    <p:sldId id="346" r:id="rId11"/>
    <p:sldId id="347" r:id="rId12"/>
    <p:sldId id="348" r:id="rId13"/>
    <p:sldId id="343" r:id="rId14"/>
    <p:sldId id="337" r:id="rId15"/>
    <p:sldId id="339" r:id="rId16"/>
    <p:sldId id="340" r:id="rId17"/>
    <p:sldId id="338" r:id="rId18"/>
    <p:sldId id="341" r:id="rId19"/>
  </p:sldIdLst>
  <p:sldSz cx="9906000" cy="6858000" type="A4"/>
  <p:notesSz cx="9906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0" userDrawn="1">
          <p15:clr>
            <a:srgbClr val="A4A3A4"/>
          </p15:clr>
        </p15:guide>
        <p15:guide id="2" pos="288" userDrawn="1">
          <p15:clr>
            <a:srgbClr val="A4A3A4"/>
          </p15:clr>
        </p15:guide>
        <p15:guide id="3" orient="horz" pos="25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46" autoAdjust="0"/>
    <p:restoredTop sz="94658"/>
  </p:normalViewPr>
  <p:slideViewPr>
    <p:cSldViewPr>
      <p:cViewPr varScale="1">
        <p:scale>
          <a:sx n="68" d="100"/>
          <a:sy n="68" d="100"/>
        </p:scale>
        <p:origin x="1254" y="36"/>
      </p:cViewPr>
      <p:guideLst>
        <p:guide orient="horz" pos="720"/>
        <p:guide pos="288"/>
        <p:guide orient="horz" pos="25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905998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95300" y="6461759"/>
            <a:ext cx="641603" cy="2484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2478" y="2640851"/>
            <a:ext cx="9285605" cy="1466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08504" y="6506291"/>
            <a:ext cx="170561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12504" y="6418258"/>
            <a:ext cx="24447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5998" cy="64780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18275" y="2171297"/>
            <a:ext cx="8229112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FinalTerm</a:t>
            </a:r>
            <a:r>
              <a:rPr lang="ko-KR" altLang="en-US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 보고서</a:t>
            </a:r>
            <a:endParaRPr sz="3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ko-KR" altLang="en-US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제목 </a:t>
            </a:r>
            <a:r>
              <a:rPr lang="en-US" altLang="ko-KR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lang="ko-KR" altLang="en-US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 집 앞 사람 감지기</a:t>
            </a:r>
            <a:endParaRPr sz="3600" i="1" spc="-5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24600" y="3911489"/>
            <a:ext cx="3122787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학번</a:t>
            </a:r>
            <a:r>
              <a:rPr lang="en-US" altLang="ko-KR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2023105660	</a:t>
            </a:r>
            <a:endParaRPr lang="en-US" altLang="ko-KR" sz="2400" i="1" spc="-5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이름 </a:t>
            </a:r>
            <a:r>
              <a:rPr lang="en-US" altLang="ko-KR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변용환</a:t>
            </a:r>
            <a:endParaRPr sz="2400" i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19628" y="5259323"/>
            <a:ext cx="1036319" cy="4023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54215" y="5285013"/>
            <a:ext cx="24187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20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2000" b="1" spc="-12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4138" y="630845"/>
            <a:ext cx="51084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buNone/>
            </a:pPr>
            <a:r>
              <a:rPr lang="en-US" altLang="ko-KR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Mobile/</a:t>
            </a:r>
            <a:r>
              <a:rPr lang="en-US" altLang="ko-KR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WebService</a:t>
            </a:r>
            <a:r>
              <a:rPr lang="en-US" altLang="ko-KR" sz="24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Project</a:t>
            </a:r>
            <a:endParaRPr lang="en-US" altLang="ko-KR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5998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21723" y="6431727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A8A8A"/>
                </a:solidFill>
                <a:latin typeface="Malgun Gothic"/>
                <a:cs typeface="Malgun Gothic"/>
              </a:rPr>
              <a:t>2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99538" y="2991103"/>
            <a:ext cx="568706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3600" dirty="0"/>
              <a:t>목차</a:t>
            </a:r>
            <a:endParaRPr sz="3600" dirty="0"/>
          </a:p>
        </p:txBody>
      </p:sp>
      <p:sp>
        <p:nvSpPr>
          <p:cNvPr id="5" name="object 5"/>
          <p:cNvSpPr txBox="1"/>
          <p:nvPr/>
        </p:nvSpPr>
        <p:spPr>
          <a:xfrm>
            <a:off x="1482089" y="4019482"/>
            <a:ext cx="6366511" cy="2305118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요구조건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목적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필요성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기능 계획</a:t>
            </a:r>
            <a:r>
              <a:rPr lang="en-US" altLang="ko-KR" sz="2000" dirty="0"/>
              <a:t>(</a:t>
            </a:r>
            <a:r>
              <a:rPr lang="ko-KR" altLang="en-US" sz="2000" dirty="0"/>
              <a:t>신규 또는 추가 기능 중심</a:t>
            </a:r>
            <a:r>
              <a:rPr lang="en-US" altLang="ko-KR" sz="2000" dirty="0"/>
              <a:t>)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사용자 시나리오</a:t>
            </a:r>
            <a:r>
              <a:rPr lang="en-US" altLang="ko-KR" sz="2000" dirty="0"/>
              <a:t>(Ui </a:t>
            </a:r>
            <a:r>
              <a:rPr lang="ko-KR" altLang="en-US" sz="2000" dirty="0"/>
              <a:t>구성</a:t>
            </a:r>
            <a:r>
              <a:rPr lang="en-US" altLang="ko-KR" sz="2000" dirty="0"/>
              <a:t>)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>
                <a:solidFill>
                  <a:srgbClr val="1F497D"/>
                </a:solidFill>
                <a:latin typeface="Malgun Gothic"/>
                <a:cs typeface="Malgun Gothic"/>
              </a:rPr>
              <a:t>기대효과</a:t>
            </a:r>
            <a:endParaRPr lang="en-US" altLang="ko-KR" sz="2000" dirty="0">
              <a:solidFill>
                <a:srgbClr val="1F497D"/>
              </a:solidFill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6069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33883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요구조건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874760" cy="5471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1.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Edge System(Python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기반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1-1.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YoloV5 pretrained model </a:t>
            </a:r>
            <a:r>
              <a:rPr lang="ko-KR" altLang="en-US" sz="1600" dirty="0">
                <a:latin typeface="+mn-ea"/>
              </a:rPr>
              <a:t>사용</a:t>
            </a:r>
            <a:endParaRPr lang="en-US" altLang="ko-KR" sz="1600" dirty="0">
              <a:latin typeface="+mn-ea"/>
            </a:endParaRPr>
          </a:p>
          <a:p>
            <a:pPr marL="1269365" lvl="2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ko-KR" altLang="en-US" sz="1600" i="1" dirty="0">
                <a:latin typeface="+mn-ea"/>
              </a:rPr>
              <a:t>대체 가능 함</a:t>
            </a:r>
            <a:endParaRPr lang="en-US" altLang="ko-KR" sz="1600" dirty="0">
              <a:latin typeface="+mn-ea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1-2.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 err="1">
                <a:latin typeface="+mn-ea"/>
              </a:rPr>
              <a:t>Ms</a:t>
            </a:r>
            <a:r>
              <a:rPr lang="en-US" altLang="ko-KR" sz="1600" dirty="0">
                <a:latin typeface="+mn-ea"/>
              </a:rPr>
              <a:t> coco </a:t>
            </a:r>
            <a:r>
              <a:rPr lang="ko-KR" altLang="en-US" sz="1600" dirty="0">
                <a:latin typeface="+mn-ea"/>
              </a:rPr>
              <a:t>훈련데이터 기준 검출 객체 </a:t>
            </a:r>
            <a:r>
              <a:rPr lang="en-US" altLang="ko-KR" sz="1600" dirty="0">
                <a:latin typeface="+mn-ea"/>
              </a:rPr>
              <a:t>(Classes) : 80</a:t>
            </a:r>
            <a:r>
              <a:rPr lang="ko-KR" altLang="en-US" sz="1600" dirty="0">
                <a:latin typeface="+mn-ea"/>
              </a:rPr>
              <a:t>가지 객체 검출 기능</a:t>
            </a:r>
            <a:endParaRPr lang="en-US" altLang="ko-KR" sz="1600" dirty="0">
              <a:latin typeface="+mn-ea"/>
            </a:endParaRPr>
          </a:p>
          <a:p>
            <a:pPr marL="1269365" lvl="2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ko-KR" altLang="en-US" sz="1600" i="1" dirty="0">
                <a:latin typeface="+mn-ea"/>
              </a:rPr>
              <a:t>대체 가능 함</a:t>
            </a:r>
            <a:endParaRPr lang="en-US" altLang="ko-KR" sz="1600" i="1" dirty="0">
              <a:latin typeface="+mn-ea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1-3.</a:t>
            </a:r>
            <a:r>
              <a:rPr lang="ko-KR" altLang="en-US" sz="1600" dirty="0">
                <a:latin typeface="+mn-ea"/>
              </a:rPr>
              <a:t> 한 종류의 객체를 동일한 객체로 가능한 </a:t>
            </a:r>
            <a:r>
              <a:rPr lang="en-US" altLang="ko-KR" sz="1600" dirty="0">
                <a:latin typeface="+mn-ea"/>
              </a:rPr>
              <a:t>Change Detection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1-4.</a:t>
            </a:r>
            <a:r>
              <a:rPr lang="ko-KR" altLang="en-US" sz="1600" dirty="0">
                <a:latin typeface="+mn-ea"/>
                <a:cs typeface="Gulim"/>
              </a:rPr>
              <a:t> 게시를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사용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1-5.</a:t>
            </a:r>
            <a:r>
              <a:rPr lang="ko-KR" altLang="en-US" sz="1600" dirty="0">
                <a:latin typeface="+mn-ea"/>
                <a:cs typeface="Gulim"/>
              </a:rPr>
              <a:t> 추가기능</a:t>
            </a:r>
            <a:endParaRPr lang="en-US" altLang="ko-KR" sz="1600" dirty="0">
              <a:latin typeface="+mn-ea"/>
              <a:cs typeface="Gulim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endParaRPr lang="en-US" altLang="ko-KR" sz="900" dirty="0">
              <a:latin typeface="+mn-ea"/>
            </a:endParaRPr>
          </a:p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2.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Service System(Python, Django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기반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1600" spc="-5" dirty="0" err="1">
                <a:solidFill>
                  <a:srgbClr val="558ED5"/>
                </a:solidFill>
                <a:latin typeface="+mn-ea"/>
                <a:cs typeface="Malgun Gothic"/>
              </a:rPr>
              <a:t>Pythonanywhere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클라우드상 서비스 구동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일부 확장 기능 가능</a:t>
            </a:r>
            <a:r>
              <a:rPr 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sz="1600" dirty="0">
              <a:latin typeface="+mn-ea"/>
              <a:cs typeface="Malgun Gothic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2-1.</a:t>
            </a:r>
            <a:r>
              <a:rPr lang="ko-KR" altLang="en-US" sz="1600" dirty="0">
                <a:latin typeface="+mn-ea"/>
              </a:rPr>
              <a:t> 사용자 보안 기능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보안키를 이용한 로그인</a:t>
            </a:r>
            <a:r>
              <a:rPr lang="en-US" altLang="ko-KR" sz="1600" dirty="0">
                <a:latin typeface="+mn-ea"/>
              </a:rPr>
              <a:t>,</a:t>
            </a:r>
            <a:r>
              <a:rPr lang="ko-KR" altLang="en-US" sz="1600" dirty="0">
                <a:latin typeface="+mn-ea"/>
              </a:rPr>
              <a:t> 공통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2-2.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Image</a:t>
            </a:r>
            <a:r>
              <a:rPr lang="en-US" altLang="ko-KR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</a:rPr>
              <a:t>Blog</a:t>
            </a:r>
            <a:r>
              <a:rPr lang="en-US" altLang="ko-KR" sz="1600" dirty="0">
                <a:latin typeface="+mn-ea"/>
                <a:cs typeface="Gulim"/>
              </a:rPr>
              <a:t> </a:t>
            </a:r>
            <a:r>
              <a:rPr lang="ko-KR" altLang="en-US" sz="1600" dirty="0">
                <a:latin typeface="+mn-ea"/>
                <a:cs typeface="Gulim"/>
              </a:rPr>
              <a:t>및 </a:t>
            </a:r>
            <a:r>
              <a:rPr lang="ko-KR" altLang="en-US" sz="1600" dirty="0">
                <a:latin typeface="+mn-ea"/>
              </a:rPr>
              <a:t>관리</a:t>
            </a:r>
            <a:r>
              <a:rPr lang="ko-KR" altLang="en-US" sz="1600" dirty="0">
                <a:latin typeface="+mn-ea"/>
                <a:cs typeface="Gulim"/>
              </a:rPr>
              <a:t> 기능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일부 확장 기능 가능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2-3.</a:t>
            </a:r>
            <a:r>
              <a:rPr lang="ko-KR" altLang="en-US" sz="1600" dirty="0">
                <a:latin typeface="+mn-ea"/>
                <a:cs typeface="Gulim"/>
              </a:rPr>
              <a:t> 게시를 위한 </a:t>
            </a:r>
            <a:r>
              <a:rPr lang="en-US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2-4.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</a:t>
            </a:r>
            <a:r>
              <a:rPr lang="ko-KR" altLang="en-US" sz="1600" dirty="0">
                <a:latin typeface="+mn-ea"/>
                <a:cs typeface="Gulim"/>
              </a:rPr>
              <a:t> 목록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획득을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2-5.</a:t>
            </a:r>
            <a:r>
              <a:rPr lang="ko-KR" altLang="en-US" sz="1600" dirty="0">
                <a:latin typeface="+mn-ea"/>
                <a:cs typeface="Gulim"/>
              </a:rPr>
              <a:t> 추가 기능</a:t>
            </a:r>
            <a:endParaRPr lang="en-US" altLang="ko-KR" sz="1600" dirty="0">
              <a:latin typeface="+mn-ea"/>
              <a:cs typeface="Gulim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endParaRPr lang="en-US" altLang="ko-KR" sz="900" dirty="0">
              <a:latin typeface="+mn-ea"/>
              <a:cs typeface="Gulim"/>
            </a:endParaRPr>
          </a:p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3.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ore-KR" sz="1600" spc="-5" dirty="0">
                <a:solidFill>
                  <a:srgbClr val="558ED5"/>
                </a:solidFill>
                <a:latin typeface="+mn-ea"/>
                <a:cs typeface="Malgun Gothic"/>
              </a:rPr>
              <a:t>Client System(Android, Native App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개별 제안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600" dirty="0">
              <a:latin typeface="+mn-ea"/>
              <a:cs typeface="Malgun Gothic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3.1.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 list view </a:t>
            </a:r>
            <a:r>
              <a:rPr lang="ko-KR" altLang="en-US" sz="1600" dirty="0">
                <a:latin typeface="+mn-ea"/>
                <a:cs typeface="Gulim"/>
              </a:rPr>
              <a:t>기능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 기능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개별 제안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3.2.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</a:t>
            </a:r>
            <a:r>
              <a:rPr lang="ko-KR" altLang="en-US" sz="1600" dirty="0">
                <a:latin typeface="+mn-ea"/>
                <a:cs typeface="Gulim"/>
              </a:rPr>
              <a:t> 목록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획득을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사용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3.3.</a:t>
            </a:r>
            <a:r>
              <a:rPr lang="ko-KR" altLang="en-US" sz="1600" dirty="0">
                <a:latin typeface="+mn-ea"/>
                <a:cs typeface="Gulim"/>
              </a:rPr>
              <a:t> 공통기능 및 추가기능을 활용한 사용자 시나리오 및 </a:t>
            </a:r>
            <a:r>
              <a:rPr lang="en-US" altLang="ko-KR" sz="1600" dirty="0">
                <a:latin typeface="+mn-ea"/>
                <a:cs typeface="Gulim"/>
              </a:rPr>
              <a:t>UI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 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3-4.</a:t>
            </a:r>
            <a:r>
              <a:rPr lang="ko-KR" altLang="en-US" sz="1600" dirty="0">
                <a:latin typeface="+mn-ea"/>
                <a:cs typeface="Gulim"/>
              </a:rPr>
              <a:t> 추가 기능</a:t>
            </a:r>
            <a:endParaRPr lang="en-US" altLang="ko-KR" sz="16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3822131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5293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시스템 구성도 </a:t>
            </a:r>
            <a:r>
              <a:rPr lang="en-US" altLang="ko-KR" i="1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lang="ko-KR" alt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변경  된 사항 적용</a:t>
            </a:r>
            <a:r>
              <a:rPr lang="en-US" altLang="ko-KR" i="1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8747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시스템 구성도</a:t>
            </a:r>
            <a:endParaRPr sz="2000" dirty="0">
              <a:latin typeface="+mn-ea"/>
              <a:cs typeface="Malgun Gothic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B03CE2F-891A-4C44-B12F-EE62E07F9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2611"/>
            <a:ext cx="9906000" cy="399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194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10909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목적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1652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맑은 고딕"/>
              </a:rPr>
              <a:t>집 문 앞에 사람이 왔을 때 감지하고 앱에서 확인할 수 있도록 함</a:t>
            </a: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  <a:defRPr/>
            </a:pPr>
            <a:r>
              <a:rPr lang="ko-KR" altLang="en-US" sz="1800" dirty="0">
                <a:latin typeface="+mn-ea"/>
                <a:cs typeface="굴림"/>
              </a:rPr>
              <a:t>집 앞에 사람이 왔을 때</a:t>
            </a:r>
            <a:r>
              <a:rPr lang="en-US" altLang="ko-KR" sz="1800" dirty="0">
                <a:latin typeface="+mn-ea"/>
                <a:cs typeface="굴림"/>
              </a:rPr>
              <a:t>,</a:t>
            </a:r>
            <a:r>
              <a:rPr lang="ko-KR" altLang="en-US" sz="1800" dirty="0">
                <a:latin typeface="+mn-ea"/>
                <a:cs typeface="굴림"/>
              </a:rPr>
              <a:t> 아는 사람 혹은 안전한 사람일수도 있고 위험한 사람일 수도 있음</a:t>
            </a:r>
            <a:r>
              <a:rPr lang="en-US" altLang="ko-KR" sz="1800" dirty="0">
                <a:latin typeface="+mn-ea"/>
                <a:cs typeface="굴림"/>
              </a:rPr>
              <a:t>.</a:t>
            </a:r>
            <a:r>
              <a:rPr lang="ko-KR" altLang="en-US" sz="1800" dirty="0">
                <a:latin typeface="+mn-ea"/>
                <a:cs typeface="굴림"/>
              </a:rPr>
              <a:t> 집 앞에 사람이 왔을 때 이를 감지하고 앱에서 확인할 수 있도록 해서 사용자가 직접 위험한지 아닌지 판단할 수 있도록 함</a:t>
            </a:r>
            <a:r>
              <a:rPr lang="en-US" altLang="ko-KR" sz="1800" dirty="0">
                <a:latin typeface="+mn-ea"/>
                <a:cs typeface="굴림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10909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sz="2000" dirty="0"/>
              <a:t>필요성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33374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맑은 고딕"/>
              </a:rPr>
              <a:t>주거침입 범죄 발생의 증가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  <a:defRPr/>
            </a:pPr>
            <a:r>
              <a:rPr lang="ko-KR" altLang="en-US" sz="1800" dirty="0">
                <a:latin typeface="+mn-ea"/>
                <a:cs typeface="굴림"/>
              </a:rPr>
              <a:t>주거침입 발생이 해마다 증가하고 있는 추세이고</a:t>
            </a:r>
            <a:r>
              <a:rPr lang="en-US" altLang="ko-KR" sz="1800" dirty="0">
                <a:latin typeface="+mn-ea"/>
                <a:cs typeface="굴림"/>
              </a:rPr>
              <a:t>,</a:t>
            </a:r>
            <a:r>
              <a:rPr lang="ko-KR" altLang="en-US" sz="1800" dirty="0">
                <a:latin typeface="+mn-ea"/>
                <a:cs typeface="굴림"/>
              </a:rPr>
              <a:t> 이를 막기 위해 </a:t>
            </a:r>
            <a:r>
              <a:rPr lang="en-US" altLang="ko-KR" sz="1800" dirty="0">
                <a:latin typeface="+mn-ea"/>
                <a:cs typeface="굴림"/>
              </a:rPr>
              <a:t>CCTV</a:t>
            </a:r>
            <a:r>
              <a:rPr lang="ko-KR" altLang="en-US" sz="1800" dirty="0">
                <a:latin typeface="+mn-ea"/>
                <a:cs typeface="굴림"/>
              </a:rPr>
              <a:t> 등이 존재하지만 큰 도움이 되지 않는다</a:t>
            </a:r>
            <a:r>
              <a:rPr lang="en-US" altLang="ko-KR" sz="1800" dirty="0">
                <a:latin typeface="+mn-ea"/>
                <a:cs typeface="굴림"/>
              </a:rPr>
              <a:t>.</a:t>
            </a:r>
            <a:r>
              <a:rPr lang="ko-KR" altLang="en-US" sz="1800" dirty="0">
                <a:latin typeface="+mn-ea"/>
                <a:cs typeface="굴림"/>
              </a:rPr>
              <a:t> </a:t>
            </a:r>
            <a:r>
              <a:rPr lang="en-US" altLang="ko-KR" sz="1800" dirty="0">
                <a:latin typeface="+mn-ea"/>
                <a:cs typeface="굴림"/>
              </a:rPr>
              <a:t>CCTV</a:t>
            </a:r>
            <a:r>
              <a:rPr lang="ko-KR" altLang="en-US" sz="1800" dirty="0">
                <a:latin typeface="+mn-ea"/>
                <a:cs typeface="굴림"/>
              </a:rPr>
              <a:t>는                                       </a:t>
            </a:r>
          </a:p>
          <a:p>
            <a:pPr marL="403225" lvl="1" indent="0">
              <a:lnSpc>
                <a:spcPct val="100000"/>
              </a:lnSpc>
              <a:spcBef>
                <a:spcPts val="1440"/>
              </a:spcBef>
              <a:buNone/>
              <a:tabLst>
                <a:tab pos="690880" algn="l"/>
                <a:tab pos="691515" algn="l"/>
              </a:tabLst>
              <a:defRPr/>
            </a:pPr>
            <a:r>
              <a:rPr lang="ko-KR" altLang="en-US" sz="1800" dirty="0">
                <a:latin typeface="+mn-ea"/>
                <a:cs typeface="굴림"/>
              </a:rPr>
              <a:t>    멀리서 찍기 때문에 누가 있는지</a:t>
            </a:r>
          </a:p>
          <a:p>
            <a:pPr marL="403225" lvl="1" indent="0">
              <a:lnSpc>
                <a:spcPct val="100000"/>
              </a:lnSpc>
              <a:spcBef>
                <a:spcPts val="1440"/>
              </a:spcBef>
              <a:buNone/>
              <a:tabLst>
                <a:tab pos="690880" algn="l"/>
                <a:tab pos="691515" algn="l"/>
              </a:tabLst>
              <a:defRPr/>
            </a:pPr>
            <a:r>
              <a:rPr lang="ko-KR" altLang="en-US" sz="1800" dirty="0">
                <a:latin typeface="+mn-ea"/>
                <a:cs typeface="굴림"/>
              </a:rPr>
              <a:t>    구별하기 힘들기 때문이다</a:t>
            </a:r>
            <a:r>
              <a:rPr lang="en-US" altLang="ko-KR" sz="1800" dirty="0">
                <a:latin typeface="+mn-ea"/>
                <a:cs typeface="굴림"/>
              </a:rPr>
              <a:t>.</a:t>
            </a:r>
          </a:p>
          <a:p>
            <a:pPr marL="403225" lvl="1" indent="0">
              <a:lnSpc>
                <a:spcPct val="100000"/>
              </a:lnSpc>
              <a:spcBef>
                <a:spcPts val="1440"/>
              </a:spcBef>
              <a:buNone/>
              <a:tabLst>
                <a:tab pos="690880" algn="l"/>
                <a:tab pos="691515" algn="l"/>
              </a:tabLst>
              <a:defRPr/>
            </a:pPr>
            <a:r>
              <a:rPr lang="ko-KR" altLang="en-US" sz="1800" dirty="0">
                <a:latin typeface="+mn-ea"/>
                <a:cs typeface="굴림"/>
              </a:rPr>
              <a:t>    집 앞에서 사람을 구별할 수 있는 시스템을 통해</a:t>
            </a:r>
          </a:p>
          <a:p>
            <a:pPr marL="403225" lvl="1" indent="0">
              <a:lnSpc>
                <a:spcPct val="100000"/>
              </a:lnSpc>
              <a:spcBef>
                <a:spcPts val="1440"/>
              </a:spcBef>
              <a:buNone/>
              <a:tabLst>
                <a:tab pos="690880" algn="l"/>
                <a:tab pos="691515" algn="l"/>
              </a:tabLst>
              <a:defRPr/>
            </a:pPr>
            <a:r>
              <a:rPr lang="ko-KR" altLang="en-US" sz="1800" dirty="0">
                <a:latin typeface="+mn-ea"/>
                <a:cs typeface="굴림"/>
              </a:rPr>
              <a:t>    수사 혹은 예방에 도움이 될 것으로 보인다</a:t>
            </a:r>
            <a:r>
              <a:rPr lang="en-US" altLang="ko-KR" sz="1800" dirty="0">
                <a:latin typeface="+mn-ea"/>
                <a:cs typeface="굴림"/>
              </a:rPr>
              <a:t>.</a:t>
            </a: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sz="1800" dirty="0">
              <a:latin typeface="+mn-ea"/>
              <a:cs typeface="Gulim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897229-B94D-418C-A86A-BA7551A82C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629400" y="1895474"/>
            <a:ext cx="3100387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16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6817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기능 </a:t>
            </a:r>
            <a:r>
              <a:rPr lang="en-US" altLang="ko-KR" sz="2000" dirty="0"/>
              <a:t>-</a:t>
            </a:r>
            <a:r>
              <a:rPr lang="ko-KR" altLang="en-US" sz="2000" dirty="0"/>
              <a:t> </a:t>
            </a:r>
            <a:r>
              <a:rPr lang="ko-KR" altLang="en-US" sz="2000" dirty="0">
                <a:solidFill>
                  <a:schemeClr val="accent1"/>
                </a:solidFill>
              </a:rPr>
              <a:t>조건대비표</a:t>
            </a:r>
            <a:endParaRPr dirty="0">
              <a:solidFill>
                <a:schemeClr val="accent1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38D92DE-3313-341A-7253-A23793A03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699747"/>
              </p:ext>
            </p:extLst>
          </p:nvPr>
        </p:nvGraphicFramePr>
        <p:xfrm>
          <a:off x="457200" y="1219200"/>
          <a:ext cx="8991600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1260587217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5259118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9785294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246177164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558375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시스템 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세부기능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구현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대체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소스 파일명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함수 또는 </a:t>
                      </a:r>
                      <a:r>
                        <a:rPr lang="en-US" altLang="ko-KR" sz="1000" dirty="0"/>
                        <a:t>class</a:t>
                      </a:r>
                      <a:r>
                        <a:rPr lang="ko-KR" altLang="en-US" sz="1000" dirty="0"/>
                        <a:t>명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27650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1. Edge System(Python </a:t>
                      </a:r>
                      <a:r>
                        <a:rPr lang="ko-KR" altLang="en-US" sz="1000" dirty="0"/>
                        <a:t>기반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공통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1-1. YoloV5 pretrained model </a:t>
                      </a:r>
                      <a:r>
                        <a:rPr lang="ko-KR" altLang="en-US" sz="1000" dirty="0"/>
                        <a:t>사용</a:t>
                      </a:r>
                      <a:r>
                        <a:rPr lang="en-US" altLang="ko-KR" sz="1000" b="1" dirty="0"/>
                        <a:t>(</a:t>
                      </a:r>
                      <a:r>
                        <a:rPr lang="ko-KR" altLang="en-US" sz="1000" b="1" dirty="0"/>
                        <a:t>대체 가능</a:t>
                      </a:r>
                      <a:r>
                        <a:rPr lang="en-US" altLang="ko-KR" sz="1000" b="1" dirty="0"/>
                        <a:t>)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i="0" dirty="0">
                          <a:solidFill>
                            <a:schemeClr val="tx1"/>
                          </a:solidFill>
                        </a:rPr>
                        <a:t>  O</a:t>
                      </a:r>
                      <a:endParaRPr lang="ko-KR" altLang="en-US" sz="100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i="0" dirty="0">
                          <a:solidFill>
                            <a:schemeClr val="tx1"/>
                          </a:solidFill>
                        </a:rPr>
                        <a:t> X</a:t>
                      </a:r>
                      <a:endParaRPr lang="ko-KR" altLang="en-US" sz="1000" i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yolov5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923692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1-2. </a:t>
                      </a:r>
                      <a:r>
                        <a:rPr lang="en" altLang="ko-KR" sz="1000" dirty="0" err="1"/>
                        <a:t>Ms</a:t>
                      </a:r>
                      <a:r>
                        <a:rPr lang="en" altLang="ko-KR" sz="1000" dirty="0"/>
                        <a:t> coco </a:t>
                      </a:r>
                      <a:r>
                        <a:rPr lang="ko-KR" altLang="en-US" sz="1000" dirty="0"/>
                        <a:t>훈련데이터 기준 검출 객체 </a:t>
                      </a:r>
                      <a:r>
                        <a:rPr lang="en-US" altLang="ko-KR" sz="1000" dirty="0"/>
                        <a:t>(</a:t>
                      </a:r>
                      <a:r>
                        <a:rPr lang="en" altLang="ko-KR" sz="1000" dirty="0"/>
                        <a:t>Classes) : 80</a:t>
                      </a:r>
                      <a:r>
                        <a:rPr lang="ko-KR" altLang="en-US" sz="1000" dirty="0"/>
                        <a:t>가지 객체 검출 기능</a:t>
                      </a:r>
                      <a:r>
                        <a:rPr lang="en-US" altLang="ko-KR" sz="1000" b="1" dirty="0"/>
                        <a:t>(</a:t>
                      </a:r>
                      <a:r>
                        <a:rPr lang="ko-KR" altLang="en-US" sz="1000" b="1" dirty="0"/>
                        <a:t>대체 가능 함</a:t>
                      </a:r>
                      <a:r>
                        <a:rPr lang="en-US" altLang="ko-KR" sz="1000" b="1" dirty="0"/>
                        <a:t>)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Coco.yaml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05768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1-3. </a:t>
                      </a:r>
                      <a:r>
                        <a:rPr lang="ko-KR" altLang="en-US" sz="1000" dirty="0"/>
                        <a:t>한 종류의 객체를 동일한 객체로 가능한 </a:t>
                      </a:r>
                      <a:r>
                        <a:rPr lang="en" altLang="ko-KR" sz="1000" dirty="0"/>
                        <a:t>Change Detection</a:t>
                      </a:r>
                      <a:r>
                        <a:rPr lang="en-US" altLang="ko-KR" sz="1000" b="1" dirty="0"/>
                        <a:t>(</a:t>
                      </a:r>
                      <a:r>
                        <a:rPr lang="ko-KR" altLang="en-US" sz="1000" b="1" dirty="0"/>
                        <a:t>대체 가능 함</a:t>
                      </a:r>
                      <a:r>
                        <a:rPr lang="en-US" altLang="ko-KR" sz="1000" b="1" dirty="0"/>
                        <a:t>)</a:t>
                      </a:r>
                      <a:endParaRPr lang="en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Changedetection.py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71742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1-4. </a:t>
                      </a:r>
                      <a:r>
                        <a:rPr lang="ko-KR" altLang="en-US" sz="1000" dirty="0"/>
                        <a:t>게시를 위한 </a:t>
                      </a:r>
                      <a:r>
                        <a:rPr lang="en" altLang="ko-KR" sz="1000" dirty="0"/>
                        <a:t>HTTP </a:t>
                      </a:r>
                      <a:r>
                        <a:rPr lang="en" altLang="ko-KR" sz="1000" dirty="0" err="1"/>
                        <a:t>Restfull</a:t>
                      </a:r>
                      <a:r>
                        <a:rPr lang="en" altLang="ko-KR" sz="1000" dirty="0"/>
                        <a:t> API </a:t>
                      </a:r>
                      <a:r>
                        <a:rPr lang="ko-KR" altLang="en-US" sz="1000" dirty="0"/>
                        <a:t>사용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공통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__</a:t>
                      </a:r>
                      <a:r>
                        <a:rPr lang="en-US" altLang="ko-KR" sz="1000" dirty="0" err="1"/>
                        <a:t>init</a:t>
                      </a:r>
                      <a:r>
                        <a:rPr lang="en-US" altLang="ko-KR" sz="1000" dirty="0"/>
                        <a:t>__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2583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1-5. </a:t>
                      </a:r>
                      <a:r>
                        <a:rPr lang="ko-KR" altLang="en-US" sz="1000" dirty="0"/>
                        <a:t>기타 추가기능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더 있을 경우 아래 표 추가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219046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2. Service System(Python, Django </a:t>
                      </a:r>
                      <a:r>
                        <a:rPr lang="ko-KR" altLang="en-US" sz="1000" dirty="0"/>
                        <a:t>기반</a:t>
                      </a:r>
                      <a:r>
                        <a:rPr lang="en-US" altLang="ko-KR" sz="1000" dirty="0"/>
                        <a:t>, </a:t>
                      </a:r>
                      <a:r>
                        <a:rPr lang="en" altLang="ko-KR" sz="1000" dirty="0" err="1"/>
                        <a:t>Pythonanywhere</a:t>
                      </a:r>
                      <a:r>
                        <a:rPr lang="en" altLang="ko-KR" sz="1000" dirty="0"/>
                        <a:t> </a:t>
                      </a:r>
                      <a:r>
                        <a:rPr lang="ko-KR" altLang="en-US" sz="1000" dirty="0"/>
                        <a:t>클라우드상 서비스 구동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일부 확장 기능 가능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2-1. </a:t>
                      </a:r>
                      <a:r>
                        <a:rPr lang="ko-KR" altLang="en-US" sz="1000" dirty="0"/>
                        <a:t>사용자 보안 기능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보안키를 이용한 로그인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공통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Settings.py, urls.py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204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2-2. Image Blog </a:t>
                      </a:r>
                      <a:r>
                        <a:rPr lang="ko-KR" altLang="en-US" sz="1000" dirty="0"/>
                        <a:t>및 관리 기능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공통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일부 확장 기능 가능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Admin.py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618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2-3. </a:t>
                      </a:r>
                      <a:r>
                        <a:rPr lang="ko-KR" altLang="en-US" sz="1000" dirty="0"/>
                        <a:t>게시를 위한 </a:t>
                      </a:r>
                      <a:r>
                        <a:rPr lang="en" altLang="ko-KR" sz="1000" dirty="0"/>
                        <a:t>HTTP </a:t>
                      </a:r>
                      <a:r>
                        <a:rPr lang="en" altLang="ko-KR" sz="1000" dirty="0" err="1"/>
                        <a:t>Restfull</a:t>
                      </a:r>
                      <a:r>
                        <a:rPr lang="en" altLang="ko-KR" sz="1000" dirty="0"/>
                        <a:t> API </a:t>
                      </a:r>
                      <a:r>
                        <a:rPr lang="ko-KR" altLang="en-US" sz="1000" dirty="0"/>
                        <a:t>제공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공통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PostListCreateView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09916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2-4. Image </a:t>
                      </a:r>
                      <a:r>
                        <a:rPr lang="ko-KR" altLang="en-US" sz="1000" dirty="0"/>
                        <a:t>목록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획득을 위한 </a:t>
                      </a:r>
                      <a:r>
                        <a:rPr lang="en" altLang="ko-KR" sz="1000" dirty="0"/>
                        <a:t>HTTP </a:t>
                      </a:r>
                      <a:r>
                        <a:rPr lang="en" altLang="ko-KR" sz="1000" dirty="0" err="1"/>
                        <a:t>Restfull</a:t>
                      </a:r>
                      <a:r>
                        <a:rPr lang="en" altLang="ko-KR" sz="1000" dirty="0"/>
                        <a:t> API </a:t>
                      </a:r>
                      <a:r>
                        <a:rPr lang="ko-KR" altLang="en-US" sz="1000" dirty="0"/>
                        <a:t>제공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신규 추가 필요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PostrListCreateView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2800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2-5. </a:t>
                      </a:r>
                      <a:r>
                        <a:rPr lang="ko-KR" altLang="en-US" sz="1000" dirty="0"/>
                        <a:t>기타 추가 기능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더 있을 경우 아래 표 추가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395334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3. Client System(Android, Native App, </a:t>
                      </a:r>
                      <a:r>
                        <a:rPr lang="ko-KR" altLang="en-US" sz="1000" dirty="0"/>
                        <a:t>개별 제안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3.1. Image list view </a:t>
                      </a:r>
                      <a:r>
                        <a:rPr lang="ko-KR" altLang="en-US" sz="1000" dirty="0"/>
                        <a:t>기능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공통 기능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개별 제안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OnClickDownload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2134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3.2. Image </a:t>
                      </a:r>
                      <a:r>
                        <a:rPr lang="ko-KR" altLang="en-US" sz="1000" dirty="0"/>
                        <a:t>목록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획득을 위한 </a:t>
                      </a:r>
                      <a:r>
                        <a:rPr lang="en" altLang="ko-KR" sz="1000" dirty="0"/>
                        <a:t>HTTP </a:t>
                      </a:r>
                      <a:r>
                        <a:rPr lang="en" altLang="ko-KR" sz="1000" dirty="0" err="1"/>
                        <a:t>Restfull</a:t>
                      </a:r>
                      <a:r>
                        <a:rPr lang="en" altLang="ko-KR" sz="1000" dirty="0"/>
                        <a:t> API </a:t>
                      </a:r>
                      <a:r>
                        <a:rPr lang="ko-KR" altLang="en-US" sz="1000" dirty="0"/>
                        <a:t>사용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신규 추가 필요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downloadPosts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5660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3.3. </a:t>
                      </a:r>
                      <a:r>
                        <a:rPr lang="ko-KR" altLang="en-US" sz="1000" dirty="0"/>
                        <a:t>공통기능 및 추가기능을 활용한 사용자 시나리오 및 </a:t>
                      </a:r>
                      <a:r>
                        <a:rPr lang="en" altLang="ko-KR" sz="1000" dirty="0"/>
                        <a:t>UI </a:t>
                      </a:r>
                      <a:r>
                        <a:rPr lang="ko-KR" altLang="en-US" sz="1000" dirty="0"/>
                        <a:t>제공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신규 추가 필요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OnClickDownload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626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3-4. </a:t>
                      </a:r>
                      <a:r>
                        <a:rPr lang="ko-KR" altLang="en-US" sz="1000" dirty="0"/>
                        <a:t>추가 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CloadImage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563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985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953FC-8DC7-DEB6-AC4F-171A8F72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1. Edge System(Python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공통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C2D131-20C9-3743-0C3C-F48B12A4E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084912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1-1. YoloV5 pretrained model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Malgun Gothic"/>
              </a:rPr>
              <a:t> (</a:t>
            </a:r>
            <a:r>
              <a:rPr lang="ko-KR" altLang="en-US" sz="1400" b="1" spc="-5" dirty="0">
                <a:solidFill>
                  <a:srgbClr val="558ED5"/>
                </a:solidFill>
                <a:latin typeface="+mn-ea"/>
                <a:cs typeface="Malgun Gothic"/>
              </a:rPr>
              <a:t>대체 가능 함</a:t>
            </a: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endParaRPr lang="en-US" altLang="ko-KR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i="1" spc="-5" dirty="0">
                <a:solidFill>
                  <a:srgbClr val="FF0000"/>
                </a:solidFill>
                <a:latin typeface="+mn-ea"/>
                <a:cs typeface="Malgun Gothic"/>
              </a:rPr>
              <a:t>    </a:t>
            </a:r>
            <a:r>
              <a:rPr lang="en-US" altLang="ko-KR" sz="1400" spc="-5" dirty="0">
                <a:solidFill>
                  <a:schemeClr val="tx1"/>
                </a:solidFill>
                <a:latin typeface="+mn-ea"/>
                <a:cs typeface="Malgun Gothic"/>
              </a:rPr>
              <a:t> -Darknet </a:t>
            </a:r>
            <a:r>
              <a:rPr lang="ko-KR" altLang="en-US" sz="1400" spc="-5" dirty="0">
                <a:solidFill>
                  <a:schemeClr val="tx1"/>
                </a:solidFill>
                <a:latin typeface="+mn-ea"/>
                <a:cs typeface="Malgun Gothic"/>
              </a:rPr>
              <a:t>기반 </a:t>
            </a:r>
            <a:r>
              <a:rPr lang="ko-KR" altLang="en-US" sz="1400" spc="-5" dirty="0" err="1">
                <a:solidFill>
                  <a:schemeClr val="tx1"/>
                </a:solidFill>
                <a:latin typeface="+mn-ea"/>
                <a:cs typeface="Malgun Gothic"/>
              </a:rPr>
              <a:t>객체검출기인</a:t>
            </a:r>
            <a:r>
              <a:rPr lang="ko-KR" altLang="en-US" sz="1400" spc="-5" dirty="0">
                <a:solidFill>
                  <a:schemeClr val="tx1"/>
                </a:solidFill>
                <a:latin typeface="+mn-ea"/>
                <a:cs typeface="Malgun Gothic"/>
              </a:rPr>
              <a:t> </a:t>
            </a:r>
            <a:r>
              <a:rPr lang="en-US" altLang="ko-KR" sz="1400" spc="-5" dirty="0">
                <a:solidFill>
                  <a:schemeClr val="tx1"/>
                </a:solidFill>
                <a:latin typeface="+mn-ea"/>
                <a:cs typeface="Malgun Gothic"/>
              </a:rPr>
              <a:t>YoloV5</a:t>
            </a:r>
            <a:r>
              <a:rPr lang="ko-KR" altLang="en-US" sz="1400" spc="-5" dirty="0">
                <a:solidFill>
                  <a:schemeClr val="tx1"/>
                </a:solidFill>
                <a:latin typeface="+mn-ea"/>
                <a:cs typeface="Malgun Gothic"/>
              </a:rPr>
              <a:t>를 이용하였다</a:t>
            </a:r>
            <a:r>
              <a:rPr lang="en-US" altLang="ko-KR" sz="1400" spc="-5" dirty="0">
                <a:solidFill>
                  <a:schemeClr val="tx1"/>
                </a:solidFill>
                <a:latin typeface="+mn-ea"/>
                <a:cs typeface="Malgun Gothic"/>
              </a:rPr>
              <a:t>.</a:t>
            </a:r>
            <a:endParaRPr lang="en-US" altLang="ko-KR" sz="1200" spc="-5" dirty="0">
              <a:solidFill>
                <a:schemeClr val="tx1"/>
              </a:solidFill>
              <a:latin typeface="+mn-ea"/>
              <a:cs typeface="Malgun Gothic"/>
            </a:endParaRP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endParaRPr lang="ko-KR" altLang="en-US" sz="800" dirty="0">
              <a:solidFill>
                <a:schemeClr val="tx1"/>
              </a:solidFill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AA10C6-B376-C92B-2E3F-39E2C58C9A97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528624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1-2. </a:t>
            </a:r>
            <a:r>
              <a:rPr lang="en" altLang="ko-KR" sz="1400" spc="-5" dirty="0" err="1">
                <a:solidFill>
                  <a:srgbClr val="558ED5"/>
                </a:solidFill>
                <a:latin typeface="+mn-ea"/>
                <a:cs typeface="Malgun Gothic"/>
              </a:rPr>
              <a:t>Ms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 coco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훈련데이터 기준 검출 객체 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Classes) : 80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가지 객체 검출 기능</a:t>
            </a: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b="1" spc="-5" dirty="0">
                <a:solidFill>
                  <a:srgbClr val="558ED5"/>
                </a:solidFill>
                <a:latin typeface="+mn-ea"/>
                <a:cs typeface="Malgun Gothic"/>
              </a:rPr>
              <a:t>대체 가능 함</a:t>
            </a: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endParaRPr lang="en-US" altLang="ko-KR" sz="1400" b="1" spc="-5" dirty="0">
              <a:solidFill>
                <a:srgbClr val="558ED5"/>
              </a:solidFill>
              <a:latin typeface="+mn-ea"/>
              <a:cs typeface="Gulim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Gulim"/>
              </a:rPr>
              <a:t>    </a:t>
            </a:r>
            <a:r>
              <a:rPr lang="en-US" altLang="ko-KR" sz="1400" spc="-5" dirty="0">
                <a:solidFill>
                  <a:schemeClr val="tx1"/>
                </a:solidFill>
                <a:latin typeface="+mn-ea"/>
                <a:cs typeface="Gulim"/>
              </a:rPr>
              <a:t>- data/</a:t>
            </a:r>
            <a:r>
              <a:rPr lang="en-US" altLang="ko-KR" sz="1400" spc="-5" dirty="0" err="1">
                <a:solidFill>
                  <a:schemeClr val="tx1"/>
                </a:solidFill>
                <a:latin typeface="+mn-ea"/>
                <a:cs typeface="Gulim"/>
              </a:rPr>
              <a:t>coco,yaml</a:t>
            </a:r>
            <a:r>
              <a:rPr lang="en-US" altLang="ko-KR" sz="1400" spc="-5" dirty="0">
                <a:solidFill>
                  <a:schemeClr val="tx1"/>
                </a:solidFill>
                <a:latin typeface="+mn-ea"/>
                <a:cs typeface="Gulim"/>
              </a:rPr>
              <a:t> </a:t>
            </a:r>
            <a:r>
              <a:rPr lang="ko-KR" altLang="en-US" sz="1400" spc="-5" dirty="0">
                <a:solidFill>
                  <a:schemeClr val="tx1"/>
                </a:solidFill>
                <a:latin typeface="+mn-ea"/>
                <a:cs typeface="Gulim"/>
              </a:rPr>
              <a:t>파일에 정의된 </a:t>
            </a:r>
            <a:r>
              <a:rPr lang="en-US" altLang="ko-KR" sz="1400" spc="-5" dirty="0" err="1">
                <a:solidFill>
                  <a:schemeClr val="tx1"/>
                </a:solidFill>
                <a:latin typeface="+mn-ea"/>
                <a:cs typeface="Gulim"/>
              </a:rPr>
              <a:t>Ms</a:t>
            </a:r>
            <a:r>
              <a:rPr lang="en-US" altLang="ko-KR" sz="1400" spc="-5" dirty="0">
                <a:solidFill>
                  <a:schemeClr val="tx1"/>
                </a:solidFill>
                <a:latin typeface="+mn-ea"/>
                <a:cs typeface="Gulim"/>
              </a:rPr>
              <a:t> coco </a:t>
            </a:r>
            <a:r>
              <a:rPr lang="ko-KR" altLang="en-US" sz="1400" spc="-5" dirty="0">
                <a:solidFill>
                  <a:schemeClr val="tx1"/>
                </a:solidFill>
                <a:latin typeface="+mn-ea"/>
                <a:cs typeface="Gulim"/>
              </a:rPr>
              <a:t>훈련데이터를 이용하였다</a:t>
            </a:r>
            <a:r>
              <a:rPr lang="en-US" altLang="ko-KR" sz="1400" spc="-5" dirty="0">
                <a:solidFill>
                  <a:schemeClr val="tx1"/>
                </a:solidFill>
                <a:latin typeface="+mn-ea"/>
                <a:cs typeface="Gulim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436FCE2-7D0B-C826-592C-819072951881}"/>
              </a:ext>
            </a:extLst>
          </p:cNvPr>
          <p:cNvSpPr txBox="1">
            <a:spLocks/>
          </p:cNvSpPr>
          <p:nvPr/>
        </p:nvSpPr>
        <p:spPr>
          <a:xfrm>
            <a:off x="458118" y="4038600"/>
            <a:ext cx="4309110" cy="9977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1-3.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한 종류의 객체를 동일한 객체로 가능한 </a:t>
            </a:r>
            <a:r>
              <a:rPr lang="en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Change Detection</a:t>
            </a:r>
            <a:r>
              <a:rPr lang="en-US" altLang="ko-KR" sz="1400" b="1" kern="0" spc="-5" dirty="0">
                <a:solidFill>
                  <a:srgbClr val="558ED5"/>
                </a:solidFill>
                <a:latin typeface="+mn-ea"/>
                <a:cs typeface="Malgun Gothic"/>
              </a:rPr>
              <a:t> (</a:t>
            </a:r>
            <a:r>
              <a:rPr lang="ko-KR" altLang="en-US" sz="1400" b="1" kern="0" spc="-5" dirty="0">
                <a:solidFill>
                  <a:srgbClr val="558ED5"/>
                </a:solidFill>
                <a:latin typeface="+mn-ea"/>
                <a:cs typeface="Malgun Gothic"/>
              </a:rPr>
              <a:t>대체 가능 함</a:t>
            </a:r>
            <a:r>
              <a:rPr lang="en-US" altLang="ko-KR" sz="1400" b="1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endParaRPr lang="en-US" altLang="ko-KR" sz="1400" i="1" kern="0" spc="-5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chemeClr val="tx1"/>
                </a:solidFill>
                <a:latin typeface="+mn-ea"/>
                <a:cs typeface="Gulim"/>
              </a:rPr>
              <a:t>-changedetection.py </a:t>
            </a:r>
            <a:r>
              <a:rPr lang="ko-KR" altLang="en-US" sz="1400" kern="0" spc="-5" dirty="0">
                <a:solidFill>
                  <a:schemeClr val="tx1"/>
                </a:solidFill>
                <a:latin typeface="+mn-ea"/>
                <a:cs typeface="Gulim"/>
              </a:rPr>
              <a:t>정의를 통해 과거 </a:t>
            </a:r>
            <a:r>
              <a:rPr lang="en-US" altLang="ko-KR" sz="1400" kern="0" spc="-5" dirty="0">
                <a:solidFill>
                  <a:schemeClr val="tx1"/>
                </a:solidFill>
                <a:latin typeface="+mn-ea"/>
                <a:cs typeface="Gulim"/>
              </a:rPr>
              <a:t>0 -&gt; </a:t>
            </a:r>
            <a:r>
              <a:rPr lang="ko-KR" altLang="en-US" sz="1400" kern="0" spc="-5" dirty="0">
                <a:solidFill>
                  <a:schemeClr val="tx1"/>
                </a:solidFill>
                <a:latin typeface="+mn-ea"/>
                <a:cs typeface="Gulim"/>
              </a:rPr>
              <a:t>현재 </a:t>
            </a:r>
            <a:r>
              <a:rPr lang="en-US" altLang="ko-KR" sz="1400" kern="0" spc="-5" dirty="0">
                <a:solidFill>
                  <a:schemeClr val="tx1"/>
                </a:solidFill>
                <a:latin typeface="+mn-ea"/>
                <a:cs typeface="Gulim"/>
              </a:rPr>
              <a:t>1</a:t>
            </a:r>
            <a:r>
              <a:rPr lang="ko-KR" altLang="en-US" sz="1400" kern="0" spc="-5" dirty="0">
                <a:solidFill>
                  <a:schemeClr val="tx1"/>
                </a:solidFill>
                <a:latin typeface="+mn-ea"/>
                <a:cs typeface="Gulim"/>
              </a:rPr>
              <a:t>의 상태 변화를 감지하였다</a:t>
            </a:r>
            <a:r>
              <a:rPr lang="en-US" altLang="ko-KR" sz="1400" kern="0" spc="-5" dirty="0">
                <a:solidFill>
                  <a:schemeClr val="tx1"/>
                </a:solidFill>
                <a:latin typeface="+mn-ea"/>
                <a:cs typeface="Gulim"/>
              </a:rPr>
              <a:t>.</a:t>
            </a:r>
            <a:endParaRPr lang="ko-KR" altLang="en-US" sz="800" kern="0" dirty="0">
              <a:solidFill>
                <a:schemeClr val="tx1"/>
              </a:solidFill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ACCB36D9-586F-F52E-70DB-55ACD54B7FC6}"/>
              </a:ext>
            </a:extLst>
          </p:cNvPr>
          <p:cNvSpPr txBox="1">
            <a:spLocks/>
          </p:cNvSpPr>
          <p:nvPr/>
        </p:nvSpPr>
        <p:spPr>
          <a:xfrm>
            <a:off x="5064408" y="4038600"/>
            <a:ext cx="4309110" cy="11900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1-4.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게시를 위한 </a:t>
            </a:r>
            <a:r>
              <a:rPr lang="en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" altLang="ko-KR" sz="1400" kern="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en-US" altLang="ko-KR" sz="1200" i="1" kern="0" spc="-5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kern="0" spc="-5" dirty="0">
                <a:latin typeface="+mn-ea"/>
                <a:cs typeface="Gulim"/>
              </a:rPr>
              <a:t>-Django blog</a:t>
            </a:r>
            <a:r>
              <a:rPr lang="ko-KR" altLang="en-US" sz="1200" kern="0" spc="-5" dirty="0">
                <a:latin typeface="+mn-ea"/>
                <a:cs typeface="Gulim"/>
              </a:rPr>
              <a:t>에 게시하기 위해 </a:t>
            </a:r>
            <a:r>
              <a:rPr lang="en-US" altLang="ko-KR" sz="1200" kern="0" spc="-5" dirty="0">
                <a:latin typeface="+mn-ea"/>
                <a:cs typeface="Gulim"/>
              </a:rPr>
              <a:t>HTTP </a:t>
            </a:r>
            <a:r>
              <a:rPr lang="en-US" altLang="ko-KR" sz="1200" kern="0" spc="-5" dirty="0" err="1">
                <a:latin typeface="+mn-ea"/>
                <a:cs typeface="Gulim"/>
              </a:rPr>
              <a:t>Restfull</a:t>
            </a:r>
            <a:r>
              <a:rPr lang="en-US" altLang="ko-KR" sz="1200" kern="0" spc="-5" dirty="0">
                <a:latin typeface="+mn-ea"/>
                <a:cs typeface="Gulim"/>
              </a:rPr>
              <a:t> API</a:t>
            </a:r>
            <a:r>
              <a:rPr lang="ko-KR" altLang="en-US" sz="1200" kern="0" spc="-5" dirty="0">
                <a:latin typeface="+mn-ea"/>
                <a:cs typeface="Gulim"/>
              </a:rPr>
              <a:t>를 사용하였다</a:t>
            </a:r>
            <a:r>
              <a:rPr lang="en-US" altLang="ko-KR" sz="1200" kern="0" spc="-5" dirty="0">
                <a:latin typeface="+mn-ea"/>
                <a:cs typeface="Gulim"/>
              </a:rPr>
              <a:t>.</a:t>
            </a:r>
            <a:endParaRPr lang="en-US" altLang="ko-KR" sz="1200" kern="0" dirty="0"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3924435-CCDF-4CA4-9752-D83B031E0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36375"/>
            <a:ext cx="2412791" cy="19660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1F9FD84-51A1-401D-B962-FE9C9087D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941" y="2223414"/>
            <a:ext cx="3931186" cy="146580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99E0A07-217B-4594-83A9-078E43718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4987624"/>
            <a:ext cx="4190999" cy="123235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3BBD6C0-93C3-4693-8D7E-ADFA0554E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781" y="4946598"/>
            <a:ext cx="4572543" cy="19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253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CC10C-D7E8-0941-032A-F97ED994A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DC8FF-D86E-578B-462B-9B4B30D6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1. Edge System(Python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공통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69714-2E6A-0BF3-2752-0164F4ABF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369606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1-5.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기타 추가기능</a:t>
            </a: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14D103-DA70-6704-3D5D-F338A9101BC7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597873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1-6.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기타 추가기능</a:t>
            </a: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433261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8B0C2-7071-927C-C28B-D4889232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3B1E0-DCA4-6B53-3ABD-B5A49F1DF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2. Service System(Python, Django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223D7F-C36C-107B-7BF2-246DBF4E4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782265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2-1.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사용자 보안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보안키를 이용한 로그인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en-US" altLang="ko-KR" sz="1400" i="1" spc="-5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chemeClr val="tx1"/>
                </a:solidFill>
                <a:latin typeface="+mn-ea"/>
                <a:cs typeface="Gulim"/>
              </a:rPr>
              <a:t>-</a:t>
            </a:r>
            <a:r>
              <a:rPr lang="ko-KR" altLang="en-US" sz="1400" spc="-5" dirty="0" err="1">
                <a:solidFill>
                  <a:schemeClr val="tx1"/>
                </a:solidFill>
                <a:latin typeface="+mn-ea"/>
                <a:cs typeface="Gulim"/>
              </a:rPr>
              <a:t>허가받지</a:t>
            </a:r>
            <a:r>
              <a:rPr lang="ko-KR" altLang="en-US" sz="1400" spc="-5" dirty="0">
                <a:solidFill>
                  <a:schemeClr val="tx1"/>
                </a:solidFill>
                <a:latin typeface="+mn-ea"/>
                <a:cs typeface="Gulim"/>
              </a:rPr>
              <a:t> 않은 사람이 함부로 로그인하지 않도록 보안키가 필요하다</a:t>
            </a:r>
            <a:r>
              <a:rPr lang="en-US" altLang="ko-KR" sz="1400" spc="-5" dirty="0">
                <a:solidFill>
                  <a:schemeClr val="tx1"/>
                </a:solidFill>
                <a:latin typeface="+mn-ea"/>
                <a:cs typeface="Gulim"/>
              </a:rPr>
              <a:t>.</a:t>
            </a:r>
            <a:endParaRPr lang="ko-KR" altLang="en-US" sz="800" dirty="0">
              <a:solidFill>
                <a:schemeClr val="tx1"/>
              </a:solidFill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A5ACAD-B866-53DA-94B5-BBFD3F1C41A1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918200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2-2. Image Blog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및 관리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일부 확장 기능 가능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spc="-5" dirty="0">
                <a:solidFill>
                  <a:schemeClr val="tx1"/>
                </a:solidFill>
                <a:latin typeface="+mn-ea"/>
                <a:cs typeface="Malgun Gothic"/>
              </a:rPr>
              <a:t>Admin</a:t>
            </a:r>
            <a:r>
              <a:rPr lang="ko-KR" altLang="en-US" sz="1200" spc="-5" dirty="0">
                <a:solidFill>
                  <a:schemeClr val="tx1"/>
                </a:solidFill>
                <a:latin typeface="+mn-ea"/>
                <a:cs typeface="Malgun Gothic"/>
              </a:rPr>
              <a:t> 페이지에서 관리 가능하다</a:t>
            </a:r>
            <a:r>
              <a:rPr lang="en-US" altLang="ko-KR" sz="1200" spc="-5" dirty="0">
                <a:solidFill>
                  <a:schemeClr val="tx1"/>
                </a:solidFill>
                <a:latin typeface="+mn-ea"/>
                <a:cs typeface="Malgun Gothic"/>
              </a:rPr>
              <a:t>.</a:t>
            </a:r>
            <a:endParaRPr lang="ko-KR" altLang="en-US" sz="800" dirty="0">
              <a:solidFill>
                <a:schemeClr val="tx1"/>
              </a:solidFill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1701398-9CCD-B812-1428-A0D01599FD8A}"/>
              </a:ext>
            </a:extLst>
          </p:cNvPr>
          <p:cNvSpPr txBox="1">
            <a:spLocks/>
          </p:cNvSpPr>
          <p:nvPr/>
        </p:nvSpPr>
        <p:spPr>
          <a:xfrm>
            <a:off x="458118" y="4038600"/>
            <a:ext cx="4309110" cy="5668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2-3.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게시를 위한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-US" altLang="ko-KR" sz="1400" kern="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제공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chemeClr val="tx1"/>
                </a:solidFill>
                <a:latin typeface="+mn-ea"/>
                <a:cs typeface="Gulim"/>
              </a:rPr>
              <a:t>- </a:t>
            </a:r>
            <a:r>
              <a:rPr lang="ko-KR" altLang="en-US" sz="1400" kern="0" spc="-5" dirty="0">
                <a:solidFill>
                  <a:schemeClr val="tx1"/>
                </a:solidFill>
                <a:latin typeface="+mn-ea"/>
                <a:cs typeface="Gulim"/>
              </a:rPr>
              <a:t>글 게시를 위한 </a:t>
            </a:r>
            <a:r>
              <a:rPr lang="en-US" altLang="ko-KR" sz="1400" kern="0" spc="-5" dirty="0">
                <a:solidFill>
                  <a:schemeClr val="tx1"/>
                </a:solidFill>
                <a:latin typeface="+mn-ea"/>
                <a:cs typeface="Gulim"/>
              </a:rPr>
              <a:t>HTTP </a:t>
            </a:r>
            <a:r>
              <a:rPr lang="en-US" altLang="ko-KR" sz="1400" kern="0" spc="-5" dirty="0" err="1">
                <a:solidFill>
                  <a:schemeClr val="tx1"/>
                </a:solidFill>
                <a:latin typeface="+mn-ea"/>
                <a:cs typeface="Gulim"/>
              </a:rPr>
              <a:t>Restfull</a:t>
            </a:r>
            <a:r>
              <a:rPr lang="en-US" altLang="ko-KR" sz="1400" kern="0" spc="-5" dirty="0">
                <a:solidFill>
                  <a:schemeClr val="tx1"/>
                </a:solidFill>
                <a:latin typeface="+mn-ea"/>
                <a:cs typeface="Gulim"/>
              </a:rPr>
              <a:t> API </a:t>
            </a:r>
            <a:r>
              <a:rPr lang="ko-KR" altLang="en-US" sz="1400" kern="0" spc="-5" dirty="0">
                <a:solidFill>
                  <a:schemeClr val="tx1"/>
                </a:solidFill>
                <a:latin typeface="+mn-ea"/>
                <a:cs typeface="Gulim"/>
              </a:rPr>
              <a:t>이다</a:t>
            </a:r>
            <a:r>
              <a:rPr lang="en-US" altLang="ko-KR" sz="1400" kern="0" spc="-5" dirty="0">
                <a:solidFill>
                  <a:schemeClr val="tx1"/>
                </a:solidFill>
                <a:latin typeface="+mn-ea"/>
                <a:cs typeface="Gulim"/>
              </a:rPr>
              <a:t>.</a:t>
            </a:r>
            <a:endParaRPr lang="ko-KR" altLang="en-US" sz="800" kern="0" dirty="0">
              <a:solidFill>
                <a:schemeClr val="tx1"/>
              </a:solidFill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A4BEBBAE-61C7-CA37-64BE-8E9F5E4C5900}"/>
              </a:ext>
            </a:extLst>
          </p:cNvPr>
          <p:cNvSpPr txBox="1">
            <a:spLocks/>
          </p:cNvSpPr>
          <p:nvPr/>
        </p:nvSpPr>
        <p:spPr>
          <a:xfrm>
            <a:off x="5064408" y="4038600"/>
            <a:ext cx="4309110" cy="9977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2-4. Image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목록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획득을 위한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-US" altLang="ko-KR" sz="1400" kern="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제공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신규 추가 필요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en-US" altLang="ko-KR" sz="1400" b="1" kern="0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chemeClr val="tx1"/>
                </a:solidFill>
                <a:latin typeface="+mn-ea"/>
                <a:cs typeface="Gulim"/>
              </a:rPr>
              <a:t>- Django </a:t>
            </a:r>
            <a:r>
              <a:rPr lang="ko-KR" altLang="en-US" sz="1400" kern="0" spc="-5" dirty="0">
                <a:solidFill>
                  <a:schemeClr val="tx1"/>
                </a:solidFill>
                <a:latin typeface="+mn-ea"/>
                <a:cs typeface="Gulim"/>
              </a:rPr>
              <a:t>블로그에서 이미지 목록</a:t>
            </a:r>
            <a:r>
              <a:rPr lang="en-US" altLang="ko-KR" sz="1400" kern="0" spc="-5" dirty="0">
                <a:solidFill>
                  <a:schemeClr val="tx1"/>
                </a:solidFill>
                <a:latin typeface="+mn-ea"/>
                <a:cs typeface="Gulim"/>
              </a:rPr>
              <a:t>, </a:t>
            </a:r>
            <a:r>
              <a:rPr lang="ko-KR" altLang="en-US" sz="1400" kern="0" spc="-5" dirty="0">
                <a:solidFill>
                  <a:schemeClr val="tx1"/>
                </a:solidFill>
                <a:latin typeface="+mn-ea"/>
                <a:cs typeface="Gulim"/>
              </a:rPr>
              <a:t>획득을 하기 위한 </a:t>
            </a:r>
            <a:r>
              <a:rPr lang="en-US" altLang="ko-KR" sz="1400" kern="0" spc="-5" dirty="0">
                <a:solidFill>
                  <a:schemeClr val="tx1"/>
                </a:solidFill>
                <a:latin typeface="+mn-ea"/>
                <a:cs typeface="Gulim"/>
              </a:rPr>
              <a:t>HTTP </a:t>
            </a:r>
            <a:r>
              <a:rPr lang="en-US" altLang="ko-KR" sz="1400" kern="0" spc="-5" dirty="0" err="1">
                <a:solidFill>
                  <a:schemeClr val="tx1"/>
                </a:solidFill>
                <a:latin typeface="+mn-ea"/>
                <a:cs typeface="Gulim"/>
              </a:rPr>
              <a:t>Restfull</a:t>
            </a:r>
            <a:r>
              <a:rPr lang="en-US" altLang="ko-KR" sz="1400" kern="0" spc="-5" dirty="0">
                <a:solidFill>
                  <a:schemeClr val="tx1"/>
                </a:solidFill>
                <a:latin typeface="+mn-ea"/>
                <a:cs typeface="Gulim"/>
              </a:rPr>
              <a:t> API</a:t>
            </a:r>
            <a:r>
              <a:rPr lang="ko-KR" altLang="en-US" sz="1400" kern="0" spc="-5" dirty="0">
                <a:solidFill>
                  <a:schemeClr val="tx1"/>
                </a:solidFill>
                <a:latin typeface="+mn-ea"/>
                <a:cs typeface="Gulim"/>
              </a:rPr>
              <a:t>이다</a:t>
            </a:r>
            <a:r>
              <a:rPr lang="en-US" altLang="ko-KR" sz="1400" kern="0" spc="-5" dirty="0">
                <a:solidFill>
                  <a:schemeClr val="tx1"/>
                </a:solidFill>
                <a:latin typeface="+mn-ea"/>
                <a:cs typeface="Gulim"/>
              </a:rPr>
              <a:t>.</a:t>
            </a:r>
            <a:endParaRPr lang="ko-KR" altLang="en-US" sz="800" kern="0" dirty="0">
              <a:solidFill>
                <a:schemeClr val="tx1"/>
              </a:solidFill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DF8BBEB-8AF1-4FEA-BBF4-152FAA4C9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28800"/>
            <a:ext cx="2736991" cy="19812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3277DC5-31BD-48AF-9F51-FC1608E23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9" y="2061200"/>
            <a:ext cx="3705659" cy="15964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FF3BE27-8F72-4451-8210-54C5E8488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58562"/>
            <a:ext cx="4804410" cy="132954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851FB0C-D8FC-4ABD-9084-270270742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344" y="5257390"/>
            <a:ext cx="4804410" cy="132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414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FE62A-AC32-2ED9-4DBE-05890A2AD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7AD99-E4F7-2C66-1881-6248595FE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2. Service System(Python, Django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1DB4F-A935-0D3C-1AE9-A8BE88D1D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369606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2-5.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기타 추가기능</a:t>
            </a: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C1D796-EE66-8F33-37BF-6E0F85D7424F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597873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2-6.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기타 추가기능</a:t>
            </a: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503867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4422-BB0D-3E5A-7E5E-14136C8AC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97A25E-EF9B-015E-ACE8-7A7A35A7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3. Client System(Android, </a:t>
            </a:r>
            <a:r>
              <a:rPr lang="en-US" altLang="ko-KR" dirty="0">
                <a:solidFill>
                  <a:schemeClr val="tx2"/>
                </a:solidFill>
              </a:rPr>
              <a:t>Java</a:t>
            </a:r>
            <a:r>
              <a:rPr lang="ko-KR" altLang="en-US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개별 제안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394BAA-EF43-505D-E9D9-DC0027135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097736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3.1. Image list view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개별 제안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chemeClr val="tx1"/>
                </a:solidFill>
                <a:latin typeface="+mn-ea"/>
                <a:cs typeface="Malgun Gothic"/>
              </a:rPr>
              <a:t>-</a:t>
            </a:r>
            <a:r>
              <a:rPr lang="ko-KR" altLang="en-US" sz="1400" spc="-5" dirty="0">
                <a:solidFill>
                  <a:schemeClr val="tx1"/>
                </a:solidFill>
                <a:latin typeface="+mn-ea"/>
                <a:cs typeface="Malgun Gothic"/>
              </a:rPr>
              <a:t>동기화를 통해 </a:t>
            </a:r>
            <a:r>
              <a:rPr lang="en-US" altLang="ko-KR" sz="1400" spc="-5" dirty="0">
                <a:solidFill>
                  <a:schemeClr val="tx1"/>
                </a:solidFill>
                <a:latin typeface="+mn-ea"/>
                <a:cs typeface="Malgun Gothic"/>
              </a:rPr>
              <a:t>Image list</a:t>
            </a:r>
            <a:r>
              <a:rPr lang="ko-KR" altLang="en-US" sz="1400" spc="-5" dirty="0">
                <a:solidFill>
                  <a:schemeClr val="tx1"/>
                </a:solidFill>
                <a:latin typeface="+mn-ea"/>
                <a:cs typeface="Malgun Gothic"/>
              </a:rPr>
              <a:t>를</a:t>
            </a:r>
            <a:endParaRPr lang="en-US" altLang="ko-KR" sz="1400" spc="-5" dirty="0">
              <a:solidFill>
                <a:schemeClr val="tx1"/>
              </a:solidFill>
              <a:latin typeface="+mn-ea"/>
              <a:cs typeface="Malgun Gothic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ko-KR" altLang="en-US" sz="1400" spc="-5" dirty="0">
                <a:solidFill>
                  <a:schemeClr val="tx1"/>
                </a:solidFill>
                <a:latin typeface="+mn-ea"/>
                <a:cs typeface="Malgun Gothic"/>
              </a:rPr>
              <a:t>받아온다</a:t>
            </a:r>
            <a:r>
              <a:rPr lang="en-US" altLang="ko-KR" sz="1400" spc="-5" dirty="0">
                <a:solidFill>
                  <a:schemeClr val="tx1"/>
                </a:solidFill>
                <a:latin typeface="+mn-ea"/>
                <a:cs typeface="Malgun Gothic"/>
              </a:rPr>
              <a:t>.</a:t>
            </a:r>
          </a:p>
          <a:p>
            <a:pPr>
              <a:spcBef>
                <a:spcPts val="1440"/>
              </a:spcBef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50B8A7-7FF0-6EAE-390E-8D3D5A0B7D5F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997709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3.2. Image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목록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획득을 위한 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" altLang="ko-KR" sz="140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신규 추가 필요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en-US" altLang="ko-KR" sz="1400" b="1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 err="1">
                <a:solidFill>
                  <a:schemeClr val="tx1"/>
                </a:solidFill>
                <a:latin typeface="+mn-ea"/>
                <a:cs typeface="Gulim"/>
              </a:rPr>
              <a:t>downloadPosts</a:t>
            </a:r>
            <a:r>
              <a:rPr lang="en-US" altLang="ko-KR" sz="1400" spc="-5" dirty="0">
                <a:solidFill>
                  <a:schemeClr val="tx1"/>
                </a:solidFill>
                <a:latin typeface="+mn-ea"/>
                <a:cs typeface="Gulim"/>
              </a:rPr>
              <a:t> </a:t>
            </a:r>
            <a:r>
              <a:rPr lang="ko-KR" altLang="en-US" sz="1400" spc="-5" dirty="0">
                <a:solidFill>
                  <a:schemeClr val="tx1"/>
                </a:solidFill>
                <a:latin typeface="+mn-ea"/>
                <a:cs typeface="Gulim"/>
              </a:rPr>
              <a:t>함수에서 </a:t>
            </a:r>
            <a:r>
              <a:rPr lang="en-US" altLang="ko-KR" sz="1400" spc="-5" dirty="0">
                <a:solidFill>
                  <a:schemeClr val="tx1"/>
                </a:solidFill>
                <a:latin typeface="+mn-ea"/>
                <a:cs typeface="Gulim"/>
              </a:rPr>
              <a:t>HTTP </a:t>
            </a:r>
            <a:r>
              <a:rPr lang="en-US" altLang="ko-KR" sz="1400" spc="-5" dirty="0" err="1">
                <a:solidFill>
                  <a:schemeClr val="tx1"/>
                </a:solidFill>
                <a:latin typeface="+mn-ea"/>
                <a:cs typeface="Gulim"/>
              </a:rPr>
              <a:t>Restfull</a:t>
            </a:r>
            <a:r>
              <a:rPr lang="en-US" altLang="ko-KR" sz="1400" spc="-5" dirty="0">
                <a:solidFill>
                  <a:schemeClr val="tx1"/>
                </a:solidFill>
                <a:latin typeface="+mn-ea"/>
                <a:cs typeface="Gulim"/>
              </a:rPr>
              <a:t> API</a:t>
            </a:r>
            <a:r>
              <a:rPr lang="ko-KR" altLang="en-US" sz="1400" spc="-5" dirty="0">
                <a:solidFill>
                  <a:schemeClr val="tx1"/>
                </a:solidFill>
                <a:latin typeface="+mn-ea"/>
                <a:cs typeface="Gulim"/>
              </a:rPr>
              <a:t>가 사용된다</a:t>
            </a:r>
            <a:r>
              <a:rPr lang="en-US" altLang="ko-KR" sz="1400" spc="-5" dirty="0">
                <a:solidFill>
                  <a:schemeClr val="tx1"/>
                </a:solidFill>
                <a:latin typeface="+mn-ea"/>
                <a:cs typeface="Gulim"/>
              </a:rPr>
              <a:t>.</a:t>
            </a:r>
            <a:endParaRPr lang="ko-KR" altLang="en-US" sz="800" dirty="0">
              <a:solidFill>
                <a:schemeClr val="tx1"/>
              </a:solidFill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E01DD3E-BC55-0D0F-9780-7B8B684C16E3}"/>
              </a:ext>
            </a:extLst>
          </p:cNvPr>
          <p:cNvSpPr txBox="1">
            <a:spLocks/>
          </p:cNvSpPr>
          <p:nvPr/>
        </p:nvSpPr>
        <p:spPr>
          <a:xfrm>
            <a:off x="458118" y="4038600"/>
            <a:ext cx="4309110" cy="10105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3.3.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공통기능 및 추가기능을 활용한 사용자 시나리오 및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UI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제공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신규 추가 필요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ko-KR" altLang="en-US" sz="1400" kern="0" spc="-5" dirty="0">
                <a:solidFill>
                  <a:schemeClr val="tx1"/>
                </a:solidFill>
                <a:latin typeface="+mn-ea"/>
                <a:cs typeface="Gulim"/>
              </a:rPr>
              <a:t>앱에 접속하면 자동으로 </a:t>
            </a:r>
            <a:endParaRPr lang="en-US" altLang="ko-KR" sz="1400" kern="0" spc="-5" dirty="0">
              <a:solidFill>
                <a:schemeClr val="tx1"/>
              </a:solidFill>
              <a:latin typeface="+mn-ea"/>
              <a:cs typeface="Gulim"/>
            </a:endParaRP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ko-KR" altLang="en-US" sz="1400" kern="0" spc="-5" dirty="0">
                <a:solidFill>
                  <a:schemeClr val="tx1"/>
                </a:solidFill>
                <a:latin typeface="+mn-ea"/>
                <a:cs typeface="Gulim"/>
              </a:rPr>
              <a:t>동기화가 진행된다</a:t>
            </a:r>
            <a:r>
              <a:rPr lang="en-US" altLang="ko-KR" sz="1400" kern="0" spc="-5" dirty="0">
                <a:solidFill>
                  <a:schemeClr val="tx1"/>
                </a:solidFill>
                <a:latin typeface="+mn-ea"/>
                <a:cs typeface="Gulim"/>
              </a:rPr>
              <a:t>.</a:t>
            </a:r>
            <a:endParaRPr lang="ko-KR" altLang="en-US" sz="800" kern="0" dirty="0">
              <a:solidFill>
                <a:schemeClr val="tx1"/>
              </a:solidFill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F8C301E-3D83-105C-BBF1-8DF4BD734E96}"/>
              </a:ext>
            </a:extLst>
          </p:cNvPr>
          <p:cNvSpPr txBox="1">
            <a:spLocks/>
          </p:cNvSpPr>
          <p:nvPr/>
        </p:nvSpPr>
        <p:spPr>
          <a:xfrm>
            <a:off x="5064408" y="4038600"/>
            <a:ext cx="4309110" cy="5668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3-4.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기타 추가 기능</a:t>
            </a:r>
            <a:endParaRPr lang="en-US" altLang="ko-KR" sz="1400" i="1" kern="0" spc="-5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i="1" kern="0" spc="-5" dirty="0">
                <a:solidFill>
                  <a:srgbClr val="FF0000"/>
                </a:solidFill>
                <a:latin typeface="+mn-ea"/>
                <a:cs typeface="Gulim"/>
              </a:rPr>
              <a:t>-</a:t>
            </a:r>
            <a:r>
              <a:rPr lang="ko-KR" altLang="en-US" sz="1400" kern="0" spc="-5" dirty="0">
                <a:solidFill>
                  <a:schemeClr val="tx1"/>
                </a:solidFill>
                <a:latin typeface="+mn-ea"/>
                <a:cs typeface="Gulim"/>
              </a:rPr>
              <a:t>다운로드</a:t>
            </a:r>
            <a:r>
              <a:rPr lang="en-US" altLang="ko-KR" sz="1400" kern="0" spc="-5" dirty="0">
                <a:solidFill>
                  <a:schemeClr val="tx1"/>
                </a:solidFill>
                <a:latin typeface="+mn-ea"/>
                <a:cs typeface="Gulim"/>
              </a:rPr>
              <a:t>/</a:t>
            </a:r>
            <a:r>
              <a:rPr lang="ko-KR" altLang="en-US" sz="1400" kern="0" spc="-5" dirty="0">
                <a:solidFill>
                  <a:schemeClr val="tx1"/>
                </a:solidFill>
                <a:latin typeface="+mn-ea"/>
                <a:cs typeface="Gulim"/>
              </a:rPr>
              <a:t>업로드를 위한</a:t>
            </a:r>
            <a:r>
              <a:rPr lang="en-US" altLang="ko-KR" sz="1400" kern="0" spc="-5" dirty="0">
                <a:solidFill>
                  <a:schemeClr val="tx1"/>
                </a:solidFill>
                <a:latin typeface="+mn-ea"/>
                <a:cs typeface="Gulim"/>
              </a:rPr>
              <a:t> </a:t>
            </a:r>
            <a:r>
              <a:rPr lang="en-US" altLang="ko-KR" sz="1400" kern="0" spc="-5" dirty="0" err="1">
                <a:solidFill>
                  <a:schemeClr val="tx1"/>
                </a:solidFill>
                <a:latin typeface="+mn-ea"/>
                <a:cs typeface="Gulim"/>
              </a:rPr>
              <a:t>AsyncTask</a:t>
            </a:r>
            <a:endParaRPr lang="ko-KR" altLang="en-US" sz="800" kern="0" dirty="0">
              <a:solidFill>
                <a:schemeClr val="tx1"/>
              </a:solidFill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7DADD93-0AD2-4612-8EC0-E4DA19DAC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330" y="1447800"/>
            <a:ext cx="1441898" cy="25146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765E357-B630-42C2-95A5-785D54082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269194"/>
            <a:ext cx="1441898" cy="25146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ED1FAFF-C4B3-4A33-B951-96346F4E5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774" y="4513386"/>
            <a:ext cx="3414158" cy="18596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AB645E9-6C57-4DDF-9366-8E14C53E5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849" y="2140709"/>
            <a:ext cx="4309110" cy="153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054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6232A-58D9-EFAF-E142-261AA29A4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11783AD-4A19-F75E-4B88-637986810F13}"/>
              </a:ext>
            </a:extLst>
          </p:cNvPr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4824326-EE27-709E-7158-5943D15D3E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78079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기능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1041FBD-FFD1-6639-E0FE-B73C65DCDC64}"/>
              </a:ext>
            </a:extLst>
          </p:cNvPr>
          <p:cNvSpPr txBox="1"/>
          <p:nvPr/>
        </p:nvSpPr>
        <p:spPr>
          <a:xfrm>
            <a:off x="574040" y="1124817"/>
            <a:ext cx="8080375" cy="37119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맑은 고딕"/>
              </a:rPr>
              <a:t>에지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맑은 고딕"/>
              </a:rPr>
              <a:t>/</a:t>
            </a: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맑은 고딕"/>
              </a:rPr>
              <a:t>서버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맑은 고딕"/>
              </a:rPr>
              <a:t>/</a:t>
            </a: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맑은 고딕"/>
              </a:rPr>
              <a:t>스마트폰 클라이언트 </a:t>
            </a:r>
            <a:endParaRPr sz="20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  <a:defRPr/>
            </a:pPr>
            <a:r>
              <a:rPr lang="en-US" altLang="ko-KR" sz="1800" dirty="0">
                <a:latin typeface="+mn-ea"/>
                <a:cs typeface="굴림"/>
              </a:rPr>
              <a:t>Edge System: YOLO</a:t>
            </a:r>
            <a:r>
              <a:rPr lang="ko-KR" altLang="en-US" sz="1800" dirty="0">
                <a:latin typeface="+mn-ea"/>
                <a:cs typeface="굴림"/>
              </a:rPr>
              <a:t>를 통해 집 앞의 사람을 감지한다</a:t>
            </a:r>
            <a:r>
              <a:rPr lang="en-US" altLang="ko-KR" sz="1800" dirty="0">
                <a:latin typeface="+mn-ea"/>
                <a:cs typeface="굴림"/>
              </a:rPr>
              <a:t>.</a:t>
            </a:r>
            <a:r>
              <a:rPr lang="ko-KR" altLang="en-US" sz="1800" dirty="0">
                <a:latin typeface="+mn-ea"/>
                <a:cs typeface="굴림"/>
              </a:rPr>
              <a:t> 집 앞에 사람이 없을 때는 데이터를 전송하지 않고</a:t>
            </a:r>
            <a:r>
              <a:rPr lang="en-US" altLang="ko-KR" sz="1800" dirty="0">
                <a:latin typeface="+mn-ea"/>
                <a:cs typeface="굴림"/>
              </a:rPr>
              <a:t>,</a:t>
            </a:r>
            <a:r>
              <a:rPr lang="ko-KR" altLang="en-US" sz="1800" dirty="0">
                <a:latin typeface="+mn-ea"/>
                <a:cs typeface="굴림"/>
              </a:rPr>
              <a:t> 집 앞에 사람이 있을 때만 데이터를 전송한다</a:t>
            </a:r>
            <a:r>
              <a:rPr lang="en-US" altLang="ko-KR" sz="1800" dirty="0">
                <a:latin typeface="+mn-ea"/>
                <a:cs typeface="굴림"/>
              </a:rPr>
              <a:t>.</a:t>
            </a: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  <a:defRPr/>
            </a:pPr>
            <a:r>
              <a:rPr lang="en-US" altLang="ko-KR" sz="1800" dirty="0">
                <a:latin typeface="+mn-ea"/>
                <a:cs typeface="굴림"/>
              </a:rPr>
              <a:t>Server System: Image Blog</a:t>
            </a:r>
            <a:r>
              <a:rPr lang="ko-KR" altLang="en-US" sz="1800" dirty="0">
                <a:latin typeface="+mn-ea"/>
                <a:cs typeface="굴림"/>
              </a:rPr>
              <a:t>에 집 앞에 있는 사람을 게시하고</a:t>
            </a:r>
            <a:r>
              <a:rPr lang="en-US" altLang="ko-KR" sz="1800" dirty="0">
                <a:latin typeface="+mn-ea"/>
                <a:cs typeface="굴림"/>
              </a:rPr>
              <a:t>,</a:t>
            </a:r>
            <a:r>
              <a:rPr lang="ko-KR" altLang="en-US" sz="1800" dirty="0">
                <a:latin typeface="+mn-ea"/>
                <a:cs typeface="굴림"/>
              </a:rPr>
              <a:t> 스마트폰에 보낼 준비를 마친다</a:t>
            </a:r>
            <a:r>
              <a:rPr lang="en-US" altLang="ko-KR" sz="1800" dirty="0">
                <a:latin typeface="+mn-ea"/>
                <a:cs typeface="굴림"/>
              </a:rPr>
              <a:t>.</a:t>
            </a: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  <a:defRPr/>
            </a:pPr>
            <a:r>
              <a:rPr lang="en-US" altLang="ko-KR" sz="1800" dirty="0">
                <a:latin typeface="+mn-ea"/>
                <a:cs typeface="굴림"/>
              </a:rPr>
              <a:t>Client System:</a:t>
            </a:r>
            <a:r>
              <a:rPr lang="ko-KR" altLang="en-US" sz="1800" dirty="0">
                <a:latin typeface="+mn-ea"/>
                <a:cs typeface="굴림"/>
              </a:rPr>
              <a:t> </a:t>
            </a:r>
            <a:r>
              <a:rPr lang="ko-KR" altLang="en-US" dirty="0">
                <a:latin typeface="+mn-ea"/>
                <a:cs typeface="굴림"/>
              </a:rPr>
              <a:t>인기척이 느껴질 때 </a:t>
            </a:r>
            <a:r>
              <a:rPr lang="ko-KR" altLang="en-US" sz="1800" dirty="0">
                <a:latin typeface="+mn-ea"/>
                <a:cs typeface="굴림"/>
              </a:rPr>
              <a:t>앱에 접속하면</a:t>
            </a:r>
            <a:r>
              <a:rPr lang="en-US" altLang="ko-KR" sz="1800" dirty="0">
                <a:latin typeface="+mn-ea"/>
                <a:cs typeface="굴림"/>
              </a:rPr>
              <a:t>,</a:t>
            </a:r>
            <a:r>
              <a:rPr lang="ko-KR" altLang="en-US" sz="1800" dirty="0">
                <a:latin typeface="+mn-ea"/>
                <a:cs typeface="굴림"/>
              </a:rPr>
              <a:t> </a:t>
            </a:r>
            <a:r>
              <a:rPr lang="en-US" altLang="ko-KR" sz="1800" dirty="0">
                <a:latin typeface="+mn-ea"/>
                <a:cs typeface="굴림"/>
              </a:rPr>
              <a:t>Image Blog</a:t>
            </a:r>
            <a:r>
              <a:rPr lang="ko-KR" altLang="en-US" sz="1800" dirty="0">
                <a:latin typeface="+mn-ea"/>
                <a:cs typeface="굴림"/>
              </a:rPr>
              <a:t>와 동기화되어 사진이 앱에 나타난다</a:t>
            </a:r>
            <a:r>
              <a:rPr lang="en-US" altLang="ko-KR" sz="1800" dirty="0">
                <a:latin typeface="+mn-ea"/>
                <a:cs typeface="굴림"/>
              </a:rPr>
              <a:t>.</a:t>
            </a: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en-US" altLang="ko-KR" sz="18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210961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38455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사용자 시나리오</a:t>
            </a:r>
            <a:r>
              <a:rPr lang="en-US" altLang="ko-KR" sz="2000" dirty="0"/>
              <a:t>(Ui </a:t>
            </a:r>
            <a:r>
              <a:rPr lang="ko-KR" altLang="en-US" sz="2000" dirty="0"/>
              <a:t>구성</a:t>
            </a:r>
            <a:r>
              <a:rPr lang="en-US" altLang="ko-KR" sz="2000" dirty="0"/>
              <a:t>)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119071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맑은 고딕"/>
              </a:rPr>
              <a:t>사용자 시나리오</a:t>
            </a:r>
            <a:endParaRPr lang="en-US" altLang="ko-KR" spc="-5" dirty="0">
              <a:solidFill>
                <a:srgbClr val="558ED5"/>
              </a:solidFill>
              <a:latin typeface="+mn-ea"/>
              <a:cs typeface="맑은 고딕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endParaRPr lang="en-US" spc="-5" dirty="0">
              <a:solidFill>
                <a:srgbClr val="558ED5"/>
              </a:solidFill>
              <a:latin typeface="+mn-ea"/>
              <a:cs typeface="Gulim"/>
            </a:endParaRPr>
          </a:p>
          <a:p>
            <a:pPr marL="297815" indent="-285750">
              <a:lnSpc>
                <a:spcPct val="100000"/>
              </a:lnSpc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ko-KR" altLang="en-US" sz="1800" spc="-5" dirty="0">
                <a:solidFill>
                  <a:srgbClr val="558ED5"/>
                </a:solidFill>
                <a:latin typeface="+mn-ea"/>
                <a:cs typeface="Gulim"/>
              </a:rPr>
              <a:t>동기화를 통해 집 앞에 누가 있는지 확인할</a:t>
            </a:r>
            <a:endParaRPr lang="en-US" altLang="ko-KR" sz="1800" spc="-5" dirty="0">
              <a:solidFill>
                <a:srgbClr val="558ED5"/>
              </a:solidFill>
              <a:latin typeface="+mn-ea"/>
              <a:cs typeface="Gulim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ko-KR" altLang="en-US" spc="-5" dirty="0">
                <a:solidFill>
                  <a:srgbClr val="558ED5"/>
                </a:solidFill>
                <a:latin typeface="+mn-ea"/>
                <a:cs typeface="Gulim"/>
              </a:rPr>
              <a:t>수 있다</a:t>
            </a:r>
            <a:r>
              <a:rPr lang="en-US" altLang="ko-KR" spc="-5" dirty="0">
                <a:solidFill>
                  <a:srgbClr val="558ED5"/>
                </a:solidFill>
                <a:latin typeface="+mn-ea"/>
                <a:cs typeface="Gulim"/>
              </a:rPr>
              <a:t>.</a:t>
            </a:r>
            <a:r>
              <a:rPr lang="ko-KR" altLang="en-US" spc="-5" dirty="0">
                <a:solidFill>
                  <a:srgbClr val="558ED5"/>
                </a:solidFill>
                <a:latin typeface="+mn-ea"/>
                <a:cs typeface="Gulim"/>
              </a:rPr>
              <a:t> </a:t>
            </a:r>
            <a:endParaRPr sz="1800" dirty="0">
              <a:latin typeface="+mn-ea"/>
              <a:cs typeface="Gulim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153B4A-DC91-4EC7-9FAE-81C999F30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507" y="381000"/>
            <a:ext cx="332763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613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38455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개발과정의 이슈</a:t>
            </a:r>
            <a:r>
              <a:rPr lang="en-US" altLang="ko-KR" sz="2000" i="1" dirty="0">
                <a:solidFill>
                  <a:srgbClr val="FF0000"/>
                </a:solidFill>
              </a:rPr>
              <a:t>(</a:t>
            </a:r>
            <a:r>
              <a:rPr lang="ko-KR" altLang="en-US" sz="2000" i="1" dirty="0">
                <a:solidFill>
                  <a:srgbClr val="FF0000"/>
                </a:solidFill>
              </a:rPr>
              <a:t>선택</a:t>
            </a:r>
            <a:r>
              <a:rPr lang="en-US" altLang="ko-KR" sz="2000" i="1" dirty="0">
                <a:solidFill>
                  <a:srgbClr val="FF0000"/>
                </a:solidFill>
              </a:rPr>
              <a:t>)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7777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  <a:endParaRPr sz="18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2930014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66649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데모</a:t>
            </a:r>
            <a:r>
              <a:rPr lang="en-US" altLang="ko-KR" sz="2000" i="1" dirty="0">
                <a:solidFill>
                  <a:srgbClr val="FF0000"/>
                </a:solidFill>
              </a:rPr>
              <a:t>(</a:t>
            </a:r>
            <a:r>
              <a:rPr lang="ko-KR" altLang="en-US" sz="2000" i="1" dirty="0">
                <a:solidFill>
                  <a:srgbClr val="FF0000"/>
                </a:solidFill>
              </a:rPr>
              <a:t>구동 동영상</a:t>
            </a:r>
            <a:r>
              <a:rPr lang="en-US" altLang="ko-KR" sz="2000" i="1" dirty="0">
                <a:solidFill>
                  <a:srgbClr val="FF0000"/>
                </a:solidFill>
              </a:rPr>
              <a:t>,</a:t>
            </a:r>
            <a:r>
              <a:rPr lang="ko-KR" altLang="en-US" sz="2000" i="1" dirty="0">
                <a:solidFill>
                  <a:srgbClr val="FF0000"/>
                </a:solidFill>
              </a:rPr>
              <a:t> </a:t>
            </a:r>
            <a:r>
              <a:rPr lang="en-US" altLang="ko-KR" sz="2000" i="1" dirty="0">
                <a:solidFill>
                  <a:srgbClr val="FF0000"/>
                </a:solidFill>
              </a:rPr>
              <a:t>mp4</a:t>
            </a:r>
            <a:r>
              <a:rPr lang="ko-KR" altLang="en-US" sz="2000" i="1" dirty="0">
                <a:solidFill>
                  <a:srgbClr val="FF0000"/>
                </a:solidFill>
              </a:rPr>
              <a:t> 동영상 파일을 추가 함</a:t>
            </a:r>
            <a:r>
              <a:rPr lang="en-US" altLang="ko-KR" sz="2000" i="1" dirty="0">
                <a:solidFill>
                  <a:srgbClr val="FF0000"/>
                </a:solidFill>
              </a:rPr>
              <a:t>)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6418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데모 동영상</a:t>
            </a:r>
            <a:endParaRPr lang="en-US" altLang="ko-KR" sz="2000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sz="2000" dirty="0">
                <a:latin typeface="+mn-ea"/>
                <a:cs typeface="Malgun Gothic"/>
              </a:rPr>
              <a:t>https://youtube.com/shorts/VVxfWpjozuI?feature=share</a:t>
            </a:r>
            <a:endParaRPr sz="2000" dirty="0">
              <a:latin typeface="+mn-ea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68896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25501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기대효과 및 결론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3840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맑은 고딕"/>
              </a:rPr>
              <a:t>CCTV</a:t>
            </a: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맑은 고딕"/>
              </a:rPr>
              <a:t>나 다른 보안 시스템으로 확인하기 어려운 경우에 사용 가능할 것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  <a:defRPr/>
            </a:pPr>
            <a:r>
              <a:rPr lang="ko-KR" altLang="en-US" sz="1800" dirty="0">
                <a:latin typeface="+mn-ea"/>
                <a:cs typeface="굴림"/>
              </a:rPr>
              <a:t>집 앞에서 모르는 사람이 </a:t>
            </a:r>
            <a:r>
              <a:rPr lang="ko-KR" altLang="en-US" sz="1800" dirty="0" err="1">
                <a:latin typeface="+mn-ea"/>
                <a:cs typeface="굴림"/>
              </a:rPr>
              <a:t>도어락을</a:t>
            </a:r>
            <a:r>
              <a:rPr lang="ko-KR" altLang="en-US" sz="1800" dirty="0">
                <a:latin typeface="+mn-ea"/>
                <a:cs typeface="굴림"/>
              </a:rPr>
              <a:t> 누르거나</a:t>
            </a:r>
            <a:r>
              <a:rPr lang="en-US" altLang="ko-KR" sz="1800" dirty="0">
                <a:latin typeface="+mn-ea"/>
                <a:cs typeface="굴림"/>
              </a:rPr>
              <a:t>,</a:t>
            </a:r>
            <a:r>
              <a:rPr lang="ko-KR" altLang="en-US" sz="1800" dirty="0">
                <a:latin typeface="+mn-ea"/>
                <a:cs typeface="굴림"/>
              </a:rPr>
              <a:t> 침입하려고 할 때 어떤 사람인지 확인하고 이를 수사에 활용할 수 있음</a:t>
            </a:r>
            <a:r>
              <a:rPr lang="en-US" altLang="ko-KR" sz="1800" dirty="0">
                <a:latin typeface="+mn-ea"/>
                <a:cs typeface="굴림"/>
              </a:rPr>
              <a:t>.</a:t>
            </a:r>
            <a:r>
              <a:rPr lang="ko-KR" altLang="en-US" sz="1800" dirty="0">
                <a:latin typeface="+mn-ea"/>
                <a:cs typeface="굴림"/>
              </a:rPr>
              <a:t> </a:t>
            </a:r>
            <a:endParaRPr lang="en-US" altLang="ko-KR" sz="1800" dirty="0">
              <a:latin typeface="+mn-ea"/>
              <a:cs typeface="굴림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  <a:defRPr/>
            </a:pPr>
            <a:r>
              <a:rPr lang="en-US" altLang="ko-KR" sz="1800" dirty="0">
                <a:latin typeface="+mn-ea"/>
                <a:cs typeface="굴림"/>
              </a:rPr>
              <a:t>CCTV</a:t>
            </a:r>
            <a:r>
              <a:rPr lang="ko-KR" altLang="en-US" sz="1800" dirty="0">
                <a:latin typeface="+mn-ea"/>
                <a:cs typeface="굴림"/>
              </a:rPr>
              <a:t>는 거리 상의 문제도 있으므로 어떤 사람인지 확인하기에 어려우므로 집 앞에서 확인할 수 있다면 어떤 사람인지 확인하기 상대적으로 쉬울 것임</a:t>
            </a:r>
            <a:r>
              <a:rPr lang="en-US" altLang="ko-KR" sz="1800" dirty="0">
                <a:latin typeface="+mn-ea"/>
                <a:cs typeface="굴림"/>
              </a:rPr>
              <a:t>.</a:t>
            </a: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  <a:defRPr/>
            </a:pPr>
            <a:r>
              <a:rPr lang="ko-KR" altLang="en-US" sz="1800" dirty="0">
                <a:latin typeface="+mn-ea"/>
                <a:cs typeface="굴림"/>
              </a:rPr>
              <a:t>인터폰을 활용할 수도 있지만</a:t>
            </a:r>
            <a:r>
              <a:rPr lang="en-US" altLang="ko-KR" sz="1800" dirty="0">
                <a:latin typeface="+mn-ea"/>
                <a:cs typeface="굴림"/>
              </a:rPr>
              <a:t>,</a:t>
            </a:r>
            <a:r>
              <a:rPr lang="ko-KR" altLang="en-US" sz="1800" dirty="0">
                <a:latin typeface="+mn-ea"/>
                <a:cs typeface="굴림"/>
              </a:rPr>
              <a:t> 인터폰은 화질이 상당히 좋지 않아 어떤 사람인지 구별하기 거의 어려움</a:t>
            </a:r>
            <a:r>
              <a:rPr lang="en-US" altLang="ko-KR" sz="1800" dirty="0">
                <a:latin typeface="+mn-ea"/>
                <a:cs typeface="굴림"/>
              </a:rPr>
              <a:t>.</a:t>
            </a:r>
            <a:r>
              <a:rPr lang="ko-KR" altLang="en-US" sz="1800" dirty="0">
                <a:latin typeface="+mn-ea"/>
                <a:cs typeface="굴림"/>
              </a:rPr>
              <a:t> 화질이 좋은 카메라를 이용하면 어떤 사람인지 구별하기 쉬울 것임</a:t>
            </a:r>
            <a:r>
              <a:rPr lang="en-US" altLang="ko-KR" sz="1800" dirty="0">
                <a:latin typeface="+mn-ea"/>
                <a:cs typeface="굴림"/>
              </a:rPr>
              <a:t>.</a:t>
            </a: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sz="18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3825401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2626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결과물의 목록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10983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서비스 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URL : 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http://</a:t>
            </a:r>
            <a:r>
              <a:rPr lang="en-US" altLang="ko-KR" sz="2000" i="1" spc="-5" dirty="0" err="1">
                <a:solidFill>
                  <a:srgbClr val="FF0000"/>
                </a:solidFill>
                <a:latin typeface="+mn-ea"/>
                <a:cs typeface="Malgun Gothic"/>
              </a:rPr>
              <a:t>xxx.xxx.xxx</a:t>
            </a:r>
            <a:endParaRPr lang="en-US" altLang="ko-KR" sz="2000" i="1" spc="-5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소스코드 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git </a:t>
            </a: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주소 </a:t>
            </a:r>
            <a:r>
              <a:rPr lang="en-US" altLang="ko-KR" sz="2000" spc="-5">
                <a:solidFill>
                  <a:srgbClr val="558ED5"/>
                </a:solidFill>
                <a:latin typeface="+mn-ea"/>
                <a:cs typeface="Malgun Gothic"/>
              </a:rPr>
              <a:t>:https://github.com/2023105660BYH/finalterm_02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ko-KR" altLang="en-US" i="1" dirty="0">
                <a:solidFill>
                  <a:srgbClr val="FF0000"/>
                </a:solidFill>
                <a:latin typeface="+mn-ea"/>
                <a:cs typeface="Gulim"/>
              </a:rPr>
              <a:t>폴더 형식 </a:t>
            </a:r>
            <a:endParaRPr lang="en-US" altLang="ko-KR" i="1" dirty="0">
              <a:solidFill>
                <a:srgbClr val="FF0000"/>
              </a:solidFill>
              <a:latin typeface="+mn-ea"/>
              <a:cs typeface="Gulim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DE730AC-CFC8-5EDF-860C-36BC23E2E541}"/>
              </a:ext>
            </a:extLst>
          </p:cNvPr>
          <p:cNvGrpSpPr/>
          <p:nvPr/>
        </p:nvGrpSpPr>
        <p:grpSpPr>
          <a:xfrm>
            <a:off x="1905000" y="2334178"/>
            <a:ext cx="7315200" cy="1704422"/>
            <a:chOff x="2057400" y="2133600"/>
            <a:chExt cx="7315200" cy="170442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DD1A18B-E207-63B8-B8C7-5E192BFB88DE}"/>
                </a:ext>
              </a:extLst>
            </p:cNvPr>
            <p:cNvSpPr/>
            <p:nvPr/>
          </p:nvSpPr>
          <p:spPr>
            <a:xfrm>
              <a:off x="2057400" y="2133600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/>
                <a:t>Root</a:t>
              </a:r>
              <a:endParaRPr kumimoji="1" lang="ko-Kore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0597A4C-A41B-4751-3E12-A7B7CFF451AC}"/>
                </a:ext>
              </a:extLst>
            </p:cNvPr>
            <p:cNvSpPr/>
            <p:nvPr/>
          </p:nvSpPr>
          <p:spPr>
            <a:xfrm>
              <a:off x="4614227" y="2141483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Edge_System</a:t>
              </a:r>
              <a:endParaRPr kumimoji="1" lang="ko-Kore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38A63B9-CA00-D283-FA1D-A78E4A936BCE}"/>
                </a:ext>
              </a:extLst>
            </p:cNvPr>
            <p:cNvSpPr/>
            <p:nvPr/>
          </p:nvSpPr>
          <p:spPr>
            <a:xfrm>
              <a:off x="4614227" y="2772756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Service_System</a:t>
              </a:r>
              <a:endParaRPr kumimoji="1" lang="ko-Kore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3C426F6-AC55-20D4-8C98-F4D88F05621F}"/>
                </a:ext>
              </a:extLst>
            </p:cNvPr>
            <p:cNvSpPr/>
            <p:nvPr/>
          </p:nvSpPr>
          <p:spPr>
            <a:xfrm>
              <a:off x="4614227" y="3404029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Client_System</a:t>
              </a:r>
              <a:endParaRPr kumimoji="1" lang="ko-Kore-KR" altLang="en-US" dirty="0"/>
            </a:p>
          </p:txBody>
        </p:sp>
        <p:cxnSp>
          <p:nvCxnSpPr>
            <p:cNvPr id="10" name="직선 연결선[R] 9">
              <a:extLst>
                <a:ext uri="{FF2B5EF4-FFF2-40B4-BE49-F238E27FC236}">
                  <a16:creationId xmlns:a16="http://schemas.microsoft.com/office/drawing/2014/main" id="{858EB992-DFBD-5465-1B8D-7ACF2C5660BA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4038600" y="2350597"/>
              <a:ext cx="575627" cy="78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꺾인 연결선[E] 12">
              <a:extLst>
                <a:ext uri="{FF2B5EF4-FFF2-40B4-BE49-F238E27FC236}">
                  <a16:creationId xmlns:a16="http://schemas.microsoft.com/office/drawing/2014/main" id="{FB351BE6-61C4-1769-DB81-F2487B261252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4038600" y="2350597"/>
              <a:ext cx="575627" cy="639156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꺾인 연결선[E] 14">
              <a:extLst>
                <a:ext uri="{FF2B5EF4-FFF2-40B4-BE49-F238E27FC236}">
                  <a16:creationId xmlns:a16="http://schemas.microsoft.com/office/drawing/2014/main" id="{4CF0E49F-C012-5CDF-E9E9-B10B1E9996B8}"/>
                </a:ext>
              </a:extLst>
            </p:cNvPr>
            <p:cNvCxnSpPr>
              <a:cxnSpLocks/>
              <a:stCxn id="5" idx="3"/>
              <a:endCxn id="8" idx="1"/>
            </p:cNvCxnSpPr>
            <p:nvPr/>
          </p:nvCxnSpPr>
          <p:spPr>
            <a:xfrm>
              <a:off x="4038600" y="2350597"/>
              <a:ext cx="575627" cy="1270429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왼쪽 화살표[L] 19">
              <a:extLst>
                <a:ext uri="{FF2B5EF4-FFF2-40B4-BE49-F238E27FC236}">
                  <a16:creationId xmlns:a16="http://schemas.microsoft.com/office/drawing/2014/main" id="{B287C82F-48F4-5176-B993-CA6D56492D90}"/>
                </a:ext>
              </a:extLst>
            </p:cNvPr>
            <p:cNvSpPr/>
            <p:nvPr/>
          </p:nvSpPr>
          <p:spPr>
            <a:xfrm>
              <a:off x="7086600" y="2141484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YOLO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1" name="왼쪽 화살표[L] 20">
              <a:extLst>
                <a:ext uri="{FF2B5EF4-FFF2-40B4-BE49-F238E27FC236}">
                  <a16:creationId xmlns:a16="http://schemas.microsoft.com/office/drawing/2014/main" id="{661CE047-42BA-0835-FBBF-825A7534441E}"/>
                </a:ext>
              </a:extLst>
            </p:cNvPr>
            <p:cNvSpPr/>
            <p:nvPr/>
          </p:nvSpPr>
          <p:spPr>
            <a:xfrm>
              <a:off x="7086600" y="2780639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Django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2" name="왼쪽 화살표[L] 21">
              <a:extLst>
                <a:ext uri="{FF2B5EF4-FFF2-40B4-BE49-F238E27FC236}">
                  <a16:creationId xmlns:a16="http://schemas.microsoft.com/office/drawing/2014/main" id="{A1F7652F-28B4-2D24-DA8F-C647A6995155}"/>
                </a:ext>
              </a:extLst>
            </p:cNvPr>
            <p:cNvSpPr/>
            <p:nvPr/>
          </p:nvSpPr>
          <p:spPr>
            <a:xfrm>
              <a:off x="7086600" y="3407970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Android, Native App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0B6B96D8-C469-DA52-92DD-BE63EAF5557F}"/>
              </a:ext>
            </a:extLst>
          </p:cNvPr>
          <p:cNvSpPr/>
          <p:nvPr/>
        </p:nvSpPr>
        <p:spPr>
          <a:xfrm>
            <a:off x="4491210" y="4267200"/>
            <a:ext cx="4267200" cy="433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18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FinalTerm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보고서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lang="en-US" altLang="ko-KR" spc="-5" dirty="0">
                <a:solidFill>
                  <a:srgbClr val="FFFFFF"/>
                </a:solidFill>
                <a:latin typeface="Times New Roman"/>
                <a:cs typeface="Times New Roman"/>
              </a:rPr>
              <a:t>pptx</a:t>
            </a:r>
            <a:endParaRPr lang="ko-KR" altLang="en-US" sz="1800" dirty="0">
              <a:latin typeface="Times New Roman"/>
              <a:cs typeface="Times New Roman"/>
            </a:endParaRPr>
          </a:p>
        </p:txBody>
      </p:sp>
      <p:cxnSp>
        <p:nvCxnSpPr>
          <p:cNvPr id="11" name="꺾인 연결선[E] 10">
            <a:extLst>
              <a:ext uri="{FF2B5EF4-FFF2-40B4-BE49-F238E27FC236}">
                <a16:creationId xmlns:a16="http://schemas.microsoft.com/office/drawing/2014/main" id="{4815B585-13F2-2774-E3B0-9AF5359FBF4F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3886200" y="2551175"/>
            <a:ext cx="605010" cy="19330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EED7E21-5A52-D56E-9176-B51368D7472C}"/>
              </a:ext>
            </a:extLst>
          </p:cNvPr>
          <p:cNvSpPr/>
          <p:nvPr/>
        </p:nvSpPr>
        <p:spPr>
          <a:xfrm>
            <a:off x="4495800" y="4876800"/>
            <a:ext cx="4267200" cy="433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</a:pPr>
            <a:r>
              <a:rPr lang="en-US" altLang="ko-KR" sz="18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url.txt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(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서비스 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URL,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소스코드 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git 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주소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endParaRPr lang="ko-KR" altLang="en-US" sz="1800" dirty="0">
              <a:latin typeface="Times New Roman"/>
              <a:cs typeface="Times New Roman"/>
            </a:endParaRPr>
          </a:p>
        </p:txBody>
      </p:sp>
      <p:cxnSp>
        <p:nvCxnSpPr>
          <p:cNvPr id="19" name="꺾인 연결선[E] 18">
            <a:extLst>
              <a:ext uri="{FF2B5EF4-FFF2-40B4-BE49-F238E27FC236}">
                <a16:creationId xmlns:a16="http://schemas.microsoft.com/office/drawing/2014/main" id="{042AADFF-B6E9-FD53-205F-AE4D1443BC06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>
            <a:off x="3886200" y="2551175"/>
            <a:ext cx="609600" cy="25426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663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4603</TotalTime>
  <Words>1362</Words>
  <Application>Microsoft Office PowerPoint</Application>
  <PresentationFormat>A4 용지(210x297mm)</PresentationFormat>
  <Paragraphs>204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6" baseType="lpstr">
      <vt:lpstr>맑은 고딕</vt:lpstr>
      <vt:lpstr>맑은 고딕</vt:lpstr>
      <vt:lpstr>Arial</vt:lpstr>
      <vt:lpstr>Calibri</vt:lpstr>
      <vt:lpstr>Consolas</vt:lpstr>
      <vt:lpstr>Times New Roman</vt:lpstr>
      <vt:lpstr>Wingdings</vt:lpstr>
      <vt:lpstr>Office Theme</vt:lpstr>
      <vt:lpstr>Mobile/WebService Project</vt:lpstr>
      <vt:lpstr>목차</vt:lpstr>
      <vt:lpstr>요구조건</vt:lpstr>
      <vt:lpstr>시스템 구성도 (변경  된 사항 적용)</vt:lpstr>
      <vt:lpstr>목적</vt:lpstr>
      <vt:lpstr>필요성</vt:lpstr>
      <vt:lpstr>기능 - 조건대비표</vt:lpstr>
      <vt:lpstr>기능 - 1. Edge System(Python 기반, 공통)</vt:lpstr>
      <vt:lpstr>기능 - 1. Edge System(Python 기반, 공통)</vt:lpstr>
      <vt:lpstr>기능 - 2. Service System(Python, Django 기반)</vt:lpstr>
      <vt:lpstr>기능 - 2. Service System(Python, Django 기반)</vt:lpstr>
      <vt:lpstr>기능 - 3. Client System(Android, Java기반, 개별 제안)</vt:lpstr>
      <vt:lpstr>기능</vt:lpstr>
      <vt:lpstr>사용자 시나리오(Ui 구성)</vt:lpstr>
      <vt:lpstr>개발과정의 이슈(선택)</vt:lpstr>
      <vt:lpstr>데모(구동 동영상, mp4 동영상 파일을 추가 함)</vt:lpstr>
      <vt:lpstr>기대효과 및 결론</vt:lpstr>
      <vt:lpstr>결과물의 목록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안기옥</dc:creator>
  <cp:lastModifiedBy>변 용환</cp:lastModifiedBy>
  <cp:revision>74</cp:revision>
  <dcterms:created xsi:type="dcterms:W3CDTF">2020-06-08T19:34:44Z</dcterms:created>
  <dcterms:modified xsi:type="dcterms:W3CDTF">2025-12-18T14:27:15Z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2018-05-10T00:00:00Z</vt:filetime>
  </property>
  <property fmtid="{D5CDD505-2E9C-101B-9397-08002B2CF9AE}" pid="3" name="Creator">
    <vt:lpwstr>PowerPoint용 Acrobat PDFMaker 15</vt:lpwstr>
  </property>
  <property fmtid="{D5CDD505-2E9C-101B-9397-08002B2CF9AE}" pid="4" name="LastSaved">
    <vt:filetime>2020-06-08T00:00:00Z</vt:filetime>
  </property>
</Properties>
</file>